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E9F3EF"/>
                </a:solidFill>
                <a:latin typeface="Calibri"/>
              </a:rPr>
              <a:t>Compute units per CRE report (cap 300,000)</a:t>
            </a:r>
          </a:p>
        </c:rich>
      </c:tx>
      <c:layout/>
      <c:overlay val="0"/>
    </c:title>
    <c:autoTitleDeleted val="0"/>
    <c:plotArea>
      <c:barChart>
        <c:barDir val="col"/>
        <c:grouping val="clustered"/>
        <c:ser>
          <c:idx val="0"/>
          <c:order val="0"/>
          <c:tx>
            <c:strRef>
              <c:f>Sheet1!$B$1</c:f>
              <c:strCache>
                <c:ptCount val="1"/>
                <c:pt idx="0">
                  <c:v>Compute units</c:v>
                </c:pt>
              </c:strCache>
            </c:strRef>
          </c:tx>
          <c:dPt>
            <c:idx val="0"/>
            <c:spPr>
              <a:solidFill>
                <a:srgbClr val="10B981"/>
              </a:solidFill>
            </c:spPr>
          </c:dPt>
          <c:dPt>
            <c:idx val="1"/>
            <c:spPr>
              <a:solidFill>
                <a:srgbClr val="10B981"/>
              </a:solidFill>
            </c:spPr>
          </c:dPt>
          <c:dPt>
            <c:idx val="2"/>
            <c:spPr>
              <a:solidFill>
                <a:srgbClr val="10B981"/>
              </a:solidFill>
            </c:spPr>
          </c:dPt>
          <c:dPt>
            <c:idx val="3"/>
            <c:spPr>
              <a:solidFill>
                <a:srgbClr val="2DD4BF"/>
              </a:solidFill>
            </c:spPr>
          </c:dPt>
          <c:dPt>
            <c:idx val="4"/>
            <c:spPr>
              <a:solidFill>
                <a:srgbClr val="2DD4BF"/>
              </a:solidFill>
            </c:spPr>
          </c:dPt>
          <c:dPt>
            <c:idx val="5"/>
            <c:spPr>
              <a:solidFill>
                <a:srgbClr val="2DD4BF"/>
              </a:solidFill>
            </c:spPr>
          </c:dPt>
          <c:cat>
            <c:strRef>
              <c:f>Sheet1!$A$2:$A$7</c:f>
              <c:strCache>
                <c:ptCount val="6"/>
                <c:pt idx="0">
                  <c:v>Strike</c:v>
                </c:pt>
                <c:pt idx="1">
                  <c:v>Obs 1</c:v>
                </c:pt>
                <c:pt idx="2">
                  <c:v>Obs 2</c:v>
                </c:pt>
                <c:pt idx="3">
                  <c:v>3 strikes</c:v>
                </c:pt>
                <c:pt idx="4">
                  <c:v>Obs 1</c:v>
                </c:pt>
                <c:pt idx="5">
                  <c:v>Obs 2</c:v>
                </c:pt>
              </c:strCache>
            </c:strRef>
          </c:cat>
          <c:val>
            <c:numRef>
              <c:f>Sheet1!$B$2:$B$7</c:f>
              <c:numCache>
                <c:formatCode>General</c:formatCode>
                <c:ptCount val="6"/>
                <c:pt idx="0">
                  <c:v>51394</c:v>
                </c:pt>
                <c:pt idx="1">
                  <c:v>68976</c:v>
                </c:pt>
                <c:pt idx="2">
                  <c:v>87593</c:v>
                </c:pt>
                <c:pt idx="3">
                  <c:v>63723</c:v>
                </c:pt>
                <c:pt idx="4">
                  <c:v>84063</c:v>
                </c:pt>
                <c:pt idx="5">
                  <c:v>99231</c:v>
                </c:pt>
              </c:numCache>
            </c:numRef>
          </c:val>
        </c:ser>
        <c:dLbls>
          <c:numFmt formatCode="#,##0" sourceLinked="0"/>
          <c:txPr>
            <a:bodyPr/>
            <a:lstStyle/>
            <a:p>
              <a:pPr>
                <a:defRPr sz="1100">
                  <a:solidFill>
                    <a:srgbClr val="E9F3EF"/>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24342F"/>
            </a:solidFill>
          </a:ln>
        </c:spPr>
        <c:txPr>
          <a:bodyPr/>
          <a:lstStyle/>
          <a:p>
            <a:pPr>
              <a:defRPr sz="1100">
                <a:solidFill>
                  <a:srgbClr val="7A928A"/>
                </a:solidFill>
              </a:defRPr>
            </a:pPr>
          </a:p>
        </c:txPr>
        <c:crossAx val="-2113994440"/>
        <c:crosses val="autoZero"/>
        <c:auto val="1"/>
        <c:lblAlgn val="ctr"/>
        <c:lblOffset val="100"/>
        <c:noMultiLvlLbl val="0"/>
      </c:catAx>
      <c:valAx>
        <c:axId val="-2113994440"/>
        <c:scaling>
          <c:max val="300000.0"/>
          <c:min val="0.0"/>
        </c:scaling>
        <c:delete val="0"/>
        <c:axPos val="l"/>
        <c:majorGridlines>
          <c:spPr>
            <a:ln>
              <a:solidFill>
                <a:srgbClr val="24342F"/>
              </a:solidFill>
            </a:ln>
          </c:spPr>
        </c:majorGridlines>
        <c:numFmt formatCode="#,##0" sourceLinked="0"/>
        <c:majorTickMark val="out"/>
        <c:minorTickMark val="none"/>
        <c:tickLblPos val="nextTo"/>
        <c:spPr>
          <a:ln>
            <a:noFill/>
          </a:ln>
        </c:spPr>
        <c:txPr>
          <a:bodyPr/>
          <a:lstStyle/>
          <a:p>
            <a:pPr>
              <a:defRPr sz="1100">
                <a:solidFill>
                  <a:srgbClr val="7A928A"/>
                </a:solidFill>
              </a:defRPr>
            </a:pPr>
          </a:p>
        </c:txPr>
        <c:crossAx val="-2068027336"/>
        <c:crosses val="autoZero"/>
        <c:majorUnit val="1000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structured note is a promise about dates and prices. Today a bank's calculation agent watches the dates and a paying agent moves the money, and you can only buy the note where the bank is. StratosNotes is a self-service issuance engine and marketplace: the note runs on Solana, Chainlink CRE is the calculation and paying agent, and investors can be on Solana or Ethereum.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two-minute demo: the BPMN workflow behind a note, issuing it with this issuance's terms, an investor subscribing, and Chainlink CRE fixing the strike and observing on Solana devnet. Also online at sp.stratoslab.app/#demo.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example coupon aloud. Someone has to watch those dates, read those prices and move the money. Today that is a bank's calculation agent and paying agent; creating a note takes weeks and a legal team; and investors can only buy it where the issuer's platform lives.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workspace, in the design of Flow. Start from a published template, a term sheet, a sentence to the AI or a blank canvas. Save any design to the library. Issue: set size, strike and observation dates, deposit the coupon reserve, publish. Sell on either chain: Solana investors swap USDC for units in one transaction; Ethereum investors send tUSD and a subscribe call over CCIP. On every date CRE reads the Chainlink feeds and writes a signed report; coupons, autocall, knock-in and redemption settle on-chain.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 right. Any authoring route becomes a BPMN workflow, compiled to a definition stored on Solana once, by its hash. One Anchor program, flow_engine, runs every issuance. Above it, the CRE notes-keeper reads Chainlink feeds for ETH, BTC and SOL and writes signed reports into the engine through the forwarder. To the right, CCIP: Ethereum investors subscribe in through ccip_receive; payouts CRE locked in the outbox go out through a permissionless relay and ccip_send. The relay decides nothing.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Use of Solana. One Anchor program runs BPMN workflows on-chain. A compiled workflow is stored once, addressed by its hash, and every issuance is a process of it. Five product engines, worst-of baskets, physical delivery, the template library and any workflow edited on the canvas all run on the same program. It has its own heap allocator so large definitions fit Solana's 32 KiB heap on the report path.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Workflow with CRE. One CRE workflow serves every note. Each cron run reads the engine's notes from Solana at finalized state, reads the Chainlink feed of every underlying at the finalized Ethereum block with a staleness check, and writes DON-signed reports through the keystone forwarder. One report runs an observation and everything after it. CRE is also the paying agent on Ethereum: a payout report has the engine lock exactly what a Sepolia holder is owed. The chart shows the devnet reports from the evidence, against the 300k compute cap at the top of the axis.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Investors on Ethereum, over CCIP: one Ethereum address across three notes. On the FCN it subscribed 300 units from Sepolia; CRE autocalled and 306 tUSD went back. On the phoenix, CRE locked three coupons and the redemption in four payout reports, and 110 tUSD, the reference payoff, arrived with nobody acting. On the physically settled reverse convertible, the note knocked in and delivered 0.03824647 tETH, 100 units divided by the 2,614.62 strike, plus 5 tUSD of coupons. Outbound takes about a minute; inbound takes 35 to 40 minutes because of Ethereum finality.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whole lives on Solana devnet, run by CRE with nobody acting except one investor selling part of a position. The ETH phoenix paid 525, 420 and 105 USDC for 500, 400 and 100 units. The worst-of phoenix on ETH, BTC and SOL computed the worst performance on-chain from three Chainlink prices per report and paid 636 and 424 USDC for 600 and 400 units. Both match the reference payoff exactly.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with AI: a full phoenix term sheet becomes the right parameters in about seven seconds. Ten percent a year paid quarterly becomes 2.5 percent a period; the worst of ETH and BTC becomes a two-asset basket. A request missing terms gets a question back instead of a guess, and asking for a paying-agent fee comes back as a validated workflow change. The template library has six templates on devnet, each signed by its author and recompiled against its definition address; forged or mismatched entries are rejected.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products end-to-end suite runs twelve lifecycles on a local validator: all five products, worst-of baskets, physical delivery and the two custom templates, with a partial transfer mid-life. Every payout equals the expected payoff. The cross-chain suite uses a mock CCIP router and offramp with the real PDAs: a Sepolia subscription, a late one refunded, and the autocall paid through the CRE path: payout report, outbox, flush_outbox, ccip_send.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direct about the limits. Inbound CCIP is slow, so a book that takes Ethereum subscriptions stays open at least 40 minutes. The DON executor runs out of heap after our receiver succeeds, so a relayer re-executes those messages manually. CRE locks payouts but cannot submit the CCIP send itself because the router needs address lookup tables, so a permissionless relay delivers them. The tokens are our own CCIP burn-mint test tokens: we control the lane and the faucet, and a note points at mint addresses, so real USDC needs no engine change. Next: deploy to the DON, note units as SPL tokens, more chains.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Solana program runs every note as a BPMN workflow; one CRE workflow observes them all and pays holders on Solana and Ethereum; CCIP moves the money; anyone can issue from the library. The links are in the submission.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B0A"/>
        </a:solidFill>
        <a:effectLst/>
      </p:bgPr>
    </p:bg>
    <p:spTree>
      <p:nvGrpSpPr>
        <p:cNvPr id="1" name=""/>
        <p:cNvGrpSpPr/>
        <p:nvPr/>
      </p:nvGrpSpPr>
      <p:grpSpPr/>
      <p:sp>
        <p:nvSpPr>
          <p:cNvPr id="2" name="TextBox 1"/>
          <p:cNvSpPr txBox="1"/>
          <p:nvPr/>
        </p:nvSpPr>
        <p:spPr>
          <a:xfrm>
            <a:off x="548640" y="914400"/>
            <a:ext cx="5486400" cy="320040"/>
          </a:xfrm>
          <a:prstGeom prst="rect">
            <a:avLst/>
          </a:prstGeom>
          <a:noFill/>
        </p:spPr>
        <p:txBody>
          <a:bodyPr wrap="square" lIns="0" rIns="0" tIns="0" bIns="0" anchor="t">
            <a:spAutoFit/>
          </a:bodyPr>
          <a:lstStyle/>
          <a:p>
            <a:pPr algn="l">
              <a:spcAft>
                <a:spcPts val="600"/>
              </a:spcAft>
            </a:pPr>
            <a:r>
              <a:rPr sz="1400" b="1" i="0">
                <a:solidFill>
                  <a:srgbClr val="10B981"/>
                </a:solidFill>
                <a:latin typeface="Calibri"/>
              </a:rPr>
              <a:t>TOKEN2049 ORIGINS</a:t>
            </a:r>
          </a:p>
        </p:txBody>
      </p:sp>
      <p:sp>
        <p:nvSpPr>
          <p:cNvPr id="3" name="TextBox 2"/>
          <p:cNvSpPr txBox="1"/>
          <p:nvPr/>
        </p:nvSpPr>
        <p:spPr>
          <a:xfrm>
            <a:off x="548640" y="1737360"/>
            <a:ext cx="10058400" cy="1280160"/>
          </a:xfrm>
          <a:prstGeom prst="rect">
            <a:avLst/>
          </a:prstGeom>
          <a:noFill/>
        </p:spPr>
        <p:txBody>
          <a:bodyPr wrap="square" lIns="0" rIns="0" tIns="0" bIns="0" anchor="t">
            <a:spAutoFit/>
          </a:bodyPr>
          <a:lstStyle/>
          <a:p>
            <a:pPr algn="l">
              <a:spcAft>
                <a:spcPts val="600"/>
              </a:spcAft>
            </a:pPr>
            <a:r>
              <a:rPr sz="7200" b="1" i="0">
                <a:solidFill>
                  <a:srgbClr val="E9F3EF"/>
                </a:solidFill>
                <a:latin typeface="Calibri"/>
              </a:rPr>
              <a:t>StratosNotes</a:t>
            </a:r>
          </a:p>
        </p:txBody>
      </p:sp>
      <p:sp>
        <p:nvSpPr>
          <p:cNvPr id="4" name="TextBox 3"/>
          <p:cNvSpPr txBox="1"/>
          <p:nvPr/>
        </p:nvSpPr>
        <p:spPr>
          <a:xfrm>
            <a:off x="548640" y="3063240"/>
            <a:ext cx="8778240" cy="1280160"/>
          </a:xfrm>
          <a:prstGeom prst="rect">
            <a:avLst/>
          </a:prstGeom>
          <a:noFill/>
        </p:spPr>
        <p:txBody>
          <a:bodyPr wrap="square" lIns="0" rIns="0" tIns="0" bIns="0" anchor="t">
            <a:spAutoFit/>
          </a:bodyPr>
          <a:lstStyle/>
          <a:p>
            <a:pPr algn="l">
              <a:spcAft>
                <a:spcPts val="600"/>
              </a:spcAft>
            </a:pPr>
            <a:r>
              <a:rPr sz="2400" b="0" i="0">
                <a:solidFill>
                  <a:srgbClr val="B4C7C0"/>
                </a:solidFill>
                <a:latin typeface="Calibri"/>
              </a:rPr>
              <a:t>Structured notes anyone can issue in minutes. The note runs on Solana, Chainlink CRE observes and pays it, and investors buy on Solana or Ethereum.</a:t>
            </a:r>
          </a:p>
        </p:txBody>
      </p:sp>
      <p:sp>
        <p:nvSpPr>
          <p:cNvPr id="5" name="Rounded Rectangle 4"/>
          <p:cNvSpPr/>
          <p:nvPr/>
        </p:nvSpPr>
        <p:spPr>
          <a:xfrm>
            <a:off x="548640" y="4617720"/>
            <a:ext cx="1124712" cy="438912"/>
          </a:xfrm>
          <a:prstGeom prst="roundRect">
            <a:avLst>
              <a:gd name="adj" fmla="val 18000"/>
            </a:avLst>
          </a:prstGeom>
          <a:solidFill>
            <a:srgbClr val="0C1613"/>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04088" y="4764024"/>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4617720"/>
            <a:ext cx="667512" cy="438912"/>
          </a:xfrm>
          <a:prstGeom prst="rect">
            <a:avLst/>
          </a:prstGeom>
          <a:noFill/>
        </p:spPr>
        <p:txBody>
          <a:bodyPr wrap="square" lIns="0" rIns="0" tIns="0" bIns="0" anchor="ctr">
            <a:spAutoFit/>
          </a:bodyPr>
          <a:lstStyle/>
          <a:p>
            <a:pPr algn="l">
              <a:spcAft>
                <a:spcPts val="600"/>
              </a:spcAft>
            </a:pPr>
            <a:r>
              <a:rPr sz="1500" b="1" i="0">
                <a:solidFill>
                  <a:srgbClr val="E9F3EF"/>
                </a:solidFill>
                <a:latin typeface="Calibri"/>
              </a:rPr>
              <a:t>Solana</a:t>
            </a:r>
          </a:p>
        </p:txBody>
      </p:sp>
      <p:sp>
        <p:nvSpPr>
          <p:cNvPr id="8" name="Rounded Rectangle 7"/>
          <p:cNvSpPr/>
          <p:nvPr/>
        </p:nvSpPr>
        <p:spPr>
          <a:xfrm>
            <a:off x="1856232" y="4617720"/>
            <a:ext cx="1956816" cy="438912"/>
          </a:xfrm>
          <a:prstGeom prst="roundRect">
            <a:avLst>
              <a:gd name="adj" fmla="val 18000"/>
            </a:avLst>
          </a:prstGeom>
          <a:solidFill>
            <a:srgbClr val="0C1613"/>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011680" y="4764024"/>
            <a:ext cx="146304" cy="146304"/>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80" y="4617720"/>
            <a:ext cx="1499616" cy="438912"/>
          </a:xfrm>
          <a:prstGeom prst="rect">
            <a:avLst/>
          </a:prstGeom>
          <a:noFill/>
        </p:spPr>
        <p:txBody>
          <a:bodyPr wrap="square" lIns="0" rIns="0" tIns="0" bIns="0" anchor="ctr">
            <a:spAutoFit/>
          </a:bodyPr>
          <a:lstStyle/>
          <a:p>
            <a:pPr algn="l">
              <a:spcAft>
                <a:spcPts val="600"/>
              </a:spcAft>
            </a:pPr>
            <a:r>
              <a:rPr sz="1500" b="1" i="0">
                <a:solidFill>
                  <a:srgbClr val="E9F3EF"/>
                </a:solidFill>
                <a:latin typeface="Calibri"/>
              </a:rPr>
              <a:t>Chainlink CRE</a:t>
            </a:r>
          </a:p>
        </p:txBody>
      </p:sp>
      <p:sp>
        <p:nvSpPr>
          <p:cNvPr id="11" name="Rounded Rectangle 10"/>
          <p:cNvSpPr/>
          <p:nvPr/>
        </p:nvSpPr>
        <p:spPr>
          <a:xfrm>
            <a:off x="3995928" y="4617720"/>
            <a:ext cx="2075688" cy="438912"/>
          </a:xfrm>
          <a:prstGeom prst="roundRect">
            <a:avLst>
              <a:gd name="adj" fmla="val 18000"/>
            </a:avLst>
          </a:prstGeom>
          <a:solidFill>
            <a:srgbClr val="0C1613"/>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151376" y="4764024"/>
            <a:ext cx="146304" cy="146304"/>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9976" y="4617720"/>
            <a:ext cx="1618488" cy="438912"/>
          </a:xfrm>
          <a:prstGeom prst="rect">
            <a:avLst/>
          </a:prstGeom>
          <a:noFill/>
        </p:spPr>
        <p:txBody>
          <a:bodyPr wrap="square" lIns="0" rIns="0" tIns="0" bIns="0" anchor="ctr">
            <a:spAutoFit/>
          </a:bodyPr>
          <a:lstStyle/>
          <a:p>
            <a:pPr algn="l">
              <a:spcAft>
                <a:spcPts val="600"/>
              </a:spcAft>
            </a:pPr>
            <a:r>
              <a:rPr sz="1500" b="1" i="0">
                <a:solidFill>
                  <a:srgbClr val="E9F3EF"/>
                </a:solidFill>
                <a:latin typeface="Calibri"/>
              </a:rPr>
              <a:t>Chainlink CCIP</a:t>
            </a:r>
          </a:p>
        </p:txBody>
      </p:sp>
      <p:sp>
        <p:nvSpPr>
          <p:cNvPr id="14" name="TextBox 13"/>
          <p:cNvSpPr txBox="1"/>
          <p:nvPr/>
        </p:nvSpPr>
        <p:spPr>
          <a:xfrm>
            <a:off x="548640" y="5806440"/>
            <a:ext cx="7315200" cy="320040"/>
          </a:xfrm>
          <a:prstGeom prst="rect">
            <a:avLst/>
          </a:prstGeom>
          <a:noFill/>
        </p:spPr>
        <p:txBody>
          <a:bodyPr wrap="square" lIns="0" rIns="0" tIns="0" bIns="0" anchor="t">
            <a:spAutoFit/>
          </a:bodyPr>
          <a:lstStyle/>
          <a:p>
            <a:pPr algn="l">
              <a:spcAft>
                <a:spcPts val="600"/>
              </a:spcAft>
            </a:pPr>
            <a:r>
              <a:rPr sz="1600" b="1" i="0">
                <a:solidFill>
                  <a:srgbClr val="E9F3EF"/>
                </a:solidFill>
                <a:latin typeface="Calibri"/>
              </a:rPr>
              <a:t>sp.stratoslab.app</a:t>
            </a:r>
            <a:r>
              <a:rPr sz="1600" b="0" i="0">
                <a:solidFill>
                  <a:srgbClr val="7A928A"/>
                </a:solidFill>
                <a:latin typeface="Calibri"/>
              </a:rPr>
              <a:t>   ·   Solana devnet + Ethereum Sepolia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B0A"/>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lIns="0" rIns="0" tIns="0" bIns="0" anchor="t">
            <a:spAutoFit/>
          </a:bodyPr>
          <a:lstStyle/>
          <a:p>
            <a:pPr algn="l">
              <a:spcAft>
                <a:spcPts val="600"/>
              </a:spcAft>
            </a:pPr>
            <a:r>
              <a:rPr sz="1200" b="1" i="0">
                <a:solidFill>
                  <a:srgbClr val="10B981"/>
                </a:solidFill>
                <a:latin typeface="Calibri"/>
              </a:rPr>
              <a:t>DEMO</a:t>
            </a:r>
          </a:p>
        </p:txBody>
      </p:sp>
      <p:sp>
        <p:nvSpPr>
          <p:cNvPr id="3" name="Title"/>
          <p:cNvSpPr txBox="1"/>
          <p:nvPr/>
        </p:nvSpPr>
        <p:spPr>
          <a:xfrm>
            <a:off x="548640" y="685800"/>
            <a:ext cx="11094415" cy="822960"/>
          </a:xfrm>
          <a:prstGeom prst="rect">
            <a:avLst/>
          </a:prstGeom>
          <a:noFill/>
        </p:spPr>
        <p:txBody>
          <a:bodyPr wrap="square" lIns="0" rIns="0" tIns="0" bIns="0" anchor="t">
            <a:spAutoFit/>
          </a:bodyPr>
          <a:lstStyle/>
          <a:p>
            <a:pPr algn="l">
              <a:spcAft>
                <a:spcPts val="600"/>
              </a:spcAft>
            </a:pPr>
            <a:r>
              <a:rPr sz="3200" b="1" i="0">
                <a:solidFill>
                  <a:srgbClr val="E9F3EF"/>
                </a:solidFill>
                <a:latin typeface="Calibri"/>
              </a:rPr>
              <a:t>Two minutes, template to live note</a:t>
            </a:r>
          </a:p>
        </p:txBody>
      </p:sp>
      <p:pic>
        <p:nvPicPr>
          <p:cNvPr id="4" name="demo.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2031847" y="1600200"/>
            <a:ext cx="8128000" cy="4572000"/>
          </a:xfrm>
          <a:prstGeom prst="rect">
            <a:avLst/>
          </a:prstGeom>
        </p:spPr>
      </p:pic>
      <p:sp>
        <p:nvSpPr>
          <p:cNvPr id="5" name="TextBox 4"/>
          <p:cNvSpPr txBox="1"/>
          <p:nvPr/>
        </p:nvSpPr>
        <p:spPr>
          <a:xfrm>
            <a:off x="548640" y="6172200"/>
            <a:ext cx="11094415" cy="274320"/>
          </a:xfrm>
          <a:prstGeom prst="rect">
            <a:avLst/>
          </a:prstGeom>
          <a:noFill/>
        </p:spPr>
        <p:txBody>
          <a:bodyPr wrap="square" lIns="0" rIns="0" tIns="0" bIns="0" anchor="t">
            <a:spAutoFit/>
          </a:bodyPr>
          <a:lstStyle/>
          <a:p>
            <a:pPr algn="ctr">
              <a:spcAft>
                <a:spcPts val="600"/>
              </a:spcAft>
            </a:pPr>
            <a:r>
              <a:rPr sz="1200" b="0" i="0">
                <a:solidFill>
                  <a:srgbClr val="7A928A"/>
                </a:solidFill>
                <a:latin typeface="Calibri"/>
              </a:rPr>
              <a:t>Also at sp.stratoslab.app/#demo</a:t>
            </a:r>
          </a:p>
        </p:txBody>
      </p:sp>
      <p:sp>
        <p:nvSpPr>
          <p:cNvPr id="6" name="TextBox 5"/>
          <p:cNvSpPr txBox="1"/>
          <p:nvPr/>
        </p:nvSpPr>
        <p:spPr>
          <a:xfrm>
            <a:off x="548640" y="6446520"/>
            <a:ext cx="5486400" cy="228600"/>
          </a:xfrm>
          <a:prstGeom prst="rect">
            <a:avLst/>
          </a:prstGeom>
          <a:noFill/>
        </p:spPr>
        <p:txBody>
          <a:bodyPr wrap="square" lIns="0" rIns="0" tIns="0" bIns="0" anchor="t">
            <a:spAutoFit/>
          </a:bodyPr>
          <a:lstStyle/>
          <a:p>
            <a:pPr algn="l">
              <a:spcAft>
                <a:spcPts val="600"/>
              </a:spcAft>
            </a:pPr>
            <a:r>
              <a:rPr sz="1000" b="0" i="0">
                <a:solidFill>
                  <a:srgbClr val="7A928A"/>
                </a:solidFill>
                <a:latin typeface="Calibri"/>
              </a:rPr>
              <a:t>StratosNotes · sp.stratoslab.app</a:t>
            </a:r>
          </a:p>
        </p:txBody>
      </p:sp>
      <p:sp>
        <p:nvSpPr>
          <p:cNvPr id="7" name="TextBox 6"/>
          <p:cNvSpPr txBox="1"/>
          <p:nvPr/>
        </p:nvSpPr>
        <p:spPr>
          <a:xfrm>
            <a:off x="10728655" y="6446520"/>
            <a:ext cx="914400" cy="228600"/>
          </a:xfrm>
          <a:prstGeom prst="rect">
            <a:avLst/>
          </a:prstGeom>
          <a:noFill/>
        </p:spPr>
        <p:txBody>
          <a:bodyPr wrap="square" lIns="0" rIns="0" tIns="0" bIns="0" anchor="t">
            <a:spAutoFit/>
          </a:bodyPr>
          <a:lstStyle/>
          <a:p>
            <a:pPr algn="r">
              <a:spcAft>
                <a:spcPts val="600"/>
              </a:spcAft>
            </a:pPr>
            <a:r>
              <a:rPr sz="1000" b="0" i="0">
                <a:solidFill>
                  <a:srgbClr val="7A928A"/>
                </a:solidFill>
                <a:latin typeface="Calibri"/>
              </a:rPr>
              <a:t>2</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B0A"/>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lIns="0" rIns="0" tIns="0" bIns="0" anchor="t">
            <a:spAutoFit/>
          </a:bodyPr>
          <a:lstStyle/>
          <a:p>
            <a:pPr algn="l">
              <a:spcAft>
                <a:spcPts val="600"/>
              </a:spcAft>
            </a:pPr>
            <a:r>
              <a:rPr sz="1200" b="1" i="0">
                <a:solidFill>
                  <a:srgbClr val="10B981"/>
                </a:solidFill>
                <a:latin typeface="Calibri"/>
              </a:rPr>
              <a:t>THE PROBLEM</a:t>
            </a:r>
          </a:p>
        </p:txBody>
      </p:sp>
      <p:sp>
        <p:nvSpPr>
          <p:cNvPr id="3" name="Title"/>
          <p:cNvSpPr txBox="1"/>
          <p:nvPr/>
        </p:nvSpPr>
        <p:spPr>
          <a:xfrm>
            <a:off x="548640" y="685800"/>
            <a:ext cx="11094415" cy="822960"/>
          </a:xfrm>
          <a:prstGeom prst="rect">
            <a:avLst/>
          </a:prstGeom>
          <a:noFill/>
        </p:spPr>
        <p:txBody>
          <a:bodyPr wrap="square" lIns="0" rIns="0" tIns="0" bIns="0" anchor="t">
            <a:spAutoFit/>
          </a:bodyPr>
          <a:lstStyle/>
          <a:p>
            <a:pPr algn="l">
              <a:spcAft>
                <a:spcPts val="600"/>
              </a:spcAft>
            </a:pPr>
            <a:r>
              <a:rPr sz="3200" b="1" i="0">
                <a:solidFill>
                  <a:srgbClr val="E9F3EF"/>
                </a:solidFill>
                <a:latin typeface="Calibri"/>
              </a:rPr>
              <a:t>A note is a promise about dates and prices</a:t>
            </a:r>
          </a:p>
        </p:txBody>
      </p:sp>
      <p:sp>
        <p:nvSpPr>
          <p:cNvPr id="4" name="Rounded Rectangle 3"/>
          <p:cNvSpPr/>
          <p:nvPr/>
        </p:nvSpPr>
        <p:spPr>
          <a:xfrm>
            <a:off x="548640" y="1828800"/>
            <a:ext cx="5120640" cy="4023360"/>
          </a:xfrm>
          <a:prstGeom prst="roundRect">
            <a:avLst>
              <a:gd name="adj" fmla="val 8000"/>
            </a:avLst>
          </a:prstGeom>
          <a:solidFill>
            <a:srgbClr val="0C1613"/>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148840"/>
            <a:ext cx="4389120" cy="3474720"/>
          </a:xfrm>
          <a:prstGeom prst="rect">
            <a:avLst/>
          </a:prstGeom>
          <a:noFill/>
        </p:spPr>
        <p:txBody>
          <a:bodyPr wrap="square" lIns="0" rIns="0" tIns="0" bIns="0" anchor="t">
            <a:spAutoFit/>
          </a:bodyPr>
          <a:lstStyle/>
          <a:p>
            <a:pPr algn="l">
              <a:spcAft>
                <a:spcPts val="0"/>
              </a:spcAft>
            </a:pPr>
            <a:r>
              <a:rPr sz="6000" b="1" i="0">
                <a:solidFill>
                  <a:srgbClr val="10B981"/>
                </a:solidFill>
                <a:latin typeface="Calibri"/>
              </a:rPr>
              <a:t>“</a:t>
            </a:r>
          </a:p>
          <a:p>
            <a:pPr algn="l">
              <a:spcAft>
                <a:spcPts val="0"/>
              </a:spcAft>
            </a:pPr>
            <a:r>
              <a:rPr sz="2000" b="0" i="0">
                <a:solidFill>
                  <a:srgbClr val="E9F3EF"/>
                </a:solidFill>
                <a:latin typeface="Calibri"/>
              </a:rPr>
              <a:t>Every quarter, if the worst of ETH and BTC is at or above 70% of its starting level you get a 2.5% coupon; if both are at or above 100% you get your money back early.</a:t>
            </a:r>
          </a:p>
        </p:txBody>
      </p:sp>
      <p:sp>
        <p:nvSpPr>
          <p:cNvPr id="6" name="Rounded Rectangle 5"/>
          <p:cNvSpPr/>
          <p:nvPr/>
        </p:nvSpPr>
        <p:spPr>
          <a:xfrm>
            <a:off x="6172200" y="1828800"/>
            <a:ext cx="5468112" cy="896112"/>
          </a:xfrm>
          <a:prstGeom prst="roundRect">
            <a:avLst>
              <a:gd name="adj" fmla="val 1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446520" y="2203704"/>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956816"/>
            <a:ext cx="4663440" cy="685800"/>
          </a:xfrm>
          <a:prstGeom prst="rect">
            <a:avLst/>
          </a:prstGeom>
          <a:noFill/>
        </p:spPr>
        <p:txBody>
          <a:bodyPr wrap="square" lIns="0" rIns="0" tIns="0" bIns="0" anchor="t">
            <a:spAutoFit/>
          </a:bodyPr>
          <a:lstStyle/>
          <a:p>
            <a:pPr algn="l">
              <a:spcAft>
                <a:spcPts val="0"/>
              </a:spcAft>
            </a:pPr>
            <a:r>
              <a:rPr sz="1800" b="1" i="0">
                <a:solidFill>
                  <a:srgbClr val="E9F3EF"/>
                </a:solidFill>
                <a:latin typeface="Calibri"/>
              </a:rPr>
              <a:t>A calculation agent</a:t>
            </a:r>
          </a:p>
          <a:p>
            <a:pPr algn="l">
              <a:spcAft>
                <a:spcPts val="0"/>
              </a:spcAft>
            </a:pPr>
            <a:r>
              <a:rPr sz="1400" b="0" i="0">
                <a:solidFill>
                  <a:srgbClr val="B4C7C0"/>
                </a:solidFill>
                <a:latin typeface="Calibri"/>
              </a:rPr>
              <a:t>watches the dates and prices</a:t>
            </a:r>
          </a:p>
        </p:txBody>
      </p:sp>
      <p:sp>
        <p:nvSpPr>
          <p:cNvPr id="9" name="Rounded Rectangle 8"/>
          <p:cNvSpPr/>
          <p:nvPr/>
        </p:nvSpPr>
        <p:spPr>
          <a:xfrm>
            <a:off x="6172200" y="2871215"/>
            <a:ext cx="5468112" cy="896112"/>
          </a:xfrm>
          <a:prstGeom prst="roundRect">
            <a:avLst>
              <a:gd name="adj" fmla="val 1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46520" y="3246119"/>
            <a:ext cx="146304" cy="146304"/>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12280" y="2999231"/>
            <a:ext cx="4663440" cy="685800"/>
          </a:xfrm>
          <a:prstGeom prst="rect">
            <a:avLst/>
          </a:prstGeom>
          <a:noFill/>
        </p:spPr>
        <p:txBody>
          <a:bodyPr wrap="square" lIns="0" rIns="0" tIns="0" bIns="0" anchor="t">
            <a:spAutoFit/>
          </a:bodyPr>
          <a:lstStyle/>
          <a:p>
            <a:pPr algn="l">
              <a:spcAft>
                <a:spcPts val="0"/>
              </a:spcAft>
            </a:pPr>
            <a:r>
              <a:rPr sz="1800" b="1" i="0">
                <a:solidFill>
                  <a:srgbClr val="E9F3EF"/>
                </a:solidFill>
                <a:latin typeface="Calibri"/>
              </a:rPr>
              <a:t>A paying agent</a:t>
            </a:r>
          </a:p>
          <a:p>
            <a:pPr algn="l">
              <a:spcAft>
                <a:spcPts val="0"/>
              </a:spcAft>
            </a:pPr>
            <a:r>
              <a:rPr sz="1400" b="0" i="0">
                <a:solidFill>
                  <a:srgbClr val="B4C7C0"/>
                </a:solidFill>
                <a:latin typeface="Calibri"/>
              </a:rPr>
              <a:t>moves the money, and investors trust both</a:t>
            </a:r>
          </a:p>
        </p:txBody>
      </p:sp>
      <p:sp>
        <p:nvSpPr>
          <p:cNvPr id="12" name="Rounded Rectangle 11"/>
          <p:cNvSpPr/>
          <p:nvPr/>
        </p:nvSpPr>
        <p:spPr>
          <a:xfrm>
            <a:off x="6172200" y="3913630"/>
            <a:ext cx="5468112" cy="896112"/>
          </a:xfrm>
          <a:prstGeom prst="roundRect">
            <a:avLst>
              <a:gd name="adj" fmla="val 1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4288534"/>
            <a:ext cx="146304" cy="146304"/>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4041646"/>
            <a:ext cx="4663440" cy="685800"/>
          </a:xfrm>
          <a:prstGeom prst="rect">
            <a:avLst/>
          </a:prstGeom>
          <a:noFill/>
        </p:spPr>
        <p:txBody>
          <a:bodyPr wrap="square" lIns="0" rIns="0" tIns="0" bIns="0" anchor="t">
            <a:spAutoFit/>
          </a:bodyPr>
          <a:lstStyle/>
          <a:p>
            <a:pPr algn="l">
              <a:spcAft>
                <a:spcPts val="0"/>
              </a:spcAft>
            </a:pPr>
            <a:r>
              <a:rPr sz="1800" b="1" i="0">
                <a:solidFill>
                  <a:srgbClr val="E9F3EF"/>
                </a:solidFill>
                <a:latin typeface="Calibri"/>
              </a:rPr>
              <a:t>Weeks and a legal team</a:t>
            </a:r>
          </a:p>
          <a:p>
            <a:pPr algn="l">
              <a:spcAft>
                <a:spcPts val="0"/>
              </a:spcAft>
            </a:pPr>
            <a:r>
              <a:rPr sz="1400" b="0" i="0">
                <a:solidFill>
                  <a:srgbClr val="B4C7C0"/>
                </a:solidFill>
                <a:latin typeface="Calibri"/>
              </a:rPr>
              <a:t>to create one note</a:t>
            </a:r>
          </a:p>
        </p:txBody>
      </p:sp>
      <p:sp>
        <p:nvSpPr>
          <p:cNvPr id="15" name="Rounded Rectangle 14"/>
          <p:cNvSpPr/>
          <p:nvPr/>
        </p:nvSpPr>
        <p:spPr>
          <a:xfrm>
            <a:off x="6172200" y="4956045"/>
            <a:ext cx="5468112" cy="896112"/>
          </a:xfrm>
          <a:prstGeom prst="roundRect">
            <a:avLst>
              <a:gd name="adj" fmla="val 1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446520" y="5330949"/>
            <a:ext cx="146304" cy="146304"/>
          </a:xfrm>
          <a:prstGeom prst="ellipse">
            <a:avLst/>
          </a:prstGeom>
          <a:solidFill>
            <a:srgbClr val="7A9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12280" y="5084061"/>
            <a:ext cx="4663440" cy="685800"/>
          </a:xfrm>
          <a:prstGeom prst="rect">
            <a:avLst/>
          </a:prstGeom>
          <a:noFill/>
        </p:spPr>
        <p:txBody>
          <a:bodyPr wrap="square" lIns="0" rIns="0" tIns="0" bIns="0" anchor="t">
            <a:spAutoFit/>
          </a:bodyPr>
          <a:lstStyle/>
          <a:p>
            <a:pPr algn="l">
              <a:spcAft>
                <a:spcPts val="0"/>
              </a:spcAft>
            </a:pPr>
            <a:r>
              <a:rPr sz="1800" b="1" i="0">
                <a:solidFill>
                  <a:srgbClr val="E9F3EF"/>
                </a:solidFill>
                <a:latin typeface="Calibri"/>
              </a:rPr>
              <a:t>One venue</a:t>
            </a:r>
          </a:p>
          <a:p>
            <a:pPr algn="l">
              <a:spcAft>
                <a:spcPts val="0"/>
              </a:spcAft>
            </a:pPr>
            <a:r>
              <a:rPr sz="1400" b="0" i="0">
                <a:solidFill>
                  <a:srgbClr val="B4C7C0"/>
                </a:solidFill>
                <a:latin typeface="Calibri"/>
              </a:rPr>
              <a:t>investors buy only where the issuer's platform lives</a:t>
            </a:r>
          </a:p>
        </p:txBody>
      </p:sp>
      <p:sp>
        <p:nvSpPr>
          <p:cNvPr id="18" name="TextBox 17"/>
          <p:cNvSpPr txBox="1"/>
          <p:nvPr/>
        </p:nvSpPr>
        <p:spPr>
          <a:xfrm>
            <a:off x="548640" y="6446520"/>
            <a:ext cx="5486400" cy="228600"/>
          </a:xfrm>
          <a:prstGeom prst="rect">
            <a:avLst/>
          </a:prstGeom>
          <a:noFill/>
        </p:spPr>
        <p:txBody>
          <a:bodyPr wrap="square" lIns="0" rIns="0" tIns="0" bIns="0" anchor="t">
            <a:spAutoFit/>
          </a:bodyPr>
          <a:lstStyle/>
          <a:p>
            <a:pPr algn="l">
              <a:spcAft>
                <a:spcPts val="600"/>
              </a:spcAft>
            </a:pPr>
            <a:r>
              <a:rPr sz="1000" b="0" i="0">
                <a:solidFill>
                  <a:srgbClr val="7A928A"/>
                </a:solidFill>
                <a:latin typeface="Calibri"/>
              </a:rPr>
              <a:t>StratosNotes · sp.stratoslab.app</a:t>
            </a:r>
          </a:p>
        </p:txBody>
      </p:sp>
      <p:sp>
        <p:nvSpPr>
          <p:cNvPr id="19" name="TextBox 18"/>
          <p:cNvSpPr txBox="1"/>
          <p:nvPr/>
        </p:nvSpPr>
        <p:spPr>
          <a:xfrm>
            <a:off x="10728655" y="6446520"/>
            <a:ext cx="914400" cy="228600"/>
          </a:xfrm>
          <a:prstGeom prst="rect">
            <a:avLst/>
          </a:prstGeom>
          <a:noFill/>
        </p:spPr>
        <p:txBody>
          <a:bodyPr wrap="square" lIns="0" rIns="0" tIns="0" bIns="0" anchor="t">
            <a:spAutoFit/>
          </a:bodyPr>
          <a:lstStyle/>
          <a:p>
            <a:pPr algn="r">
              <a:spcAft>
                <a:spcPts val="600"/>
              </a:spcAft>
            </a:pPr>
            <a:r>
              <a:rPr sz="1000" b="0" i="0">
                <a:solidFill>
                  <a:srgbClr val="7A928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B0A"/>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lIns="0" rIns="0" tIns="0" bIns="0" anchor="t">
            <a:spAutoFit/>
          </a:bodyPr>
          <a:lstStyle/>
          <a:p>
            <a:pPr algn="l">
              <a:spcAft>
                <a:spcPts val="600"/>
              </a:spcAft>
            </a:pPr>
            <a:r>
              <a:rPr sz="1200" b="1" i="0">
                <a:solidFill>
                  <a:srgbClr val="10B981"/>
                </a:solidFill>
                <a:latin typeface="Calibri"/>
              </a:rPr>
              <a:t>WHAT IT DOES</a:t>
            </a:r>
          </a:p>
        </p:txBody>
      </p:sp>
      <p:sp>
        <p:nvSpPr>
          <p:cNvPr id="3" name="Title"/>
          <p:cNvSpPr txBox="1"/>
          <p:nvPr/>
        </p:nvSpPr>
        <p:spPr>
          <a:xfrm>
            <a:off x="548640" y="685800"/>
            <a:ext cx="11094415" cy="822960"/>
          </a:xfrm>
          <a:prstGeom prst="rect">
            <a:avLst/>
          </a:prstGeom>
          <a:noFill/>
        </p:spPr>
        <p:txBody>
          <a:bodyPr wrap="square" lIns="0" rIns="0" tIns="0" bIns="0" anchor="t">
            <a:spAutoFit/>
          </a:bodyPr>
          <a:lstStyle/>
          <a:p>
            <a:pPr algn="l">
              <a:spcAft>
                <a:spcPts val="600"/>
              </a:spcAft>
            </a:pPr>
            <a:r>
              <a:rPr sz="3200" b="1" i="0">
                <a:solidFill>
                  <a:srgbClr val="E9F3EF"/>
                </a:solidFill>
                <a:latin typeface="Calibri"/>
              </a:rPr>
              <a:t>From idea to paid coupons, in five steps</a:t>
            </a:r>
          </a:p>
        </p:txBody>
      </p:sp>
      <p:sp>
        <p:nvSpPr>
          <p:cNvPr id="4" name="Rounded Rectangle 3"/>
          <p:cNvSpPr/>
          <p:nvPr/>
        </p:nvSpPr>
        <p:spPr>
          <a:xfrm>
            <a:off x="548640" y="2011680"/>
            <a:ext cx="1999427" cy="320040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2194560"/>
            <a:ext cx="1542227" cy="685800"/>
          </a:xfrm>
          <a:prstGeom prst="rect">
            <a:avLst/>
          </a:prstGeom>
          <a:noFill/>
        </p:spPr>
        <p:txBody>
          <a:bodyPr wrap="square" lIns="0" rIns="0" tIns="0" bIns="0" anchor="t">
            <a:spAutoFit/>
          </a:bodyPr>
          <a:lstStyle/>
          <a:p>
            <a:pPr algn="l">
              <a:spcAft>
                <a:spcPts val="600"/>
              </a:spcAft>
            </a:pPr>
            <a:r>
              <a:rPr sz="3600" b="1" i="0">
                <a:solidFill>
                  <a:srgbClr val="10B981"/>
                </a:solidFill>
                <a:latin typeface="Calibri"/>
              </a:rPr>
              <a:t>1</a:t>
            </a:r>
          </a:p>
        </p:txBody>
      </p:sp>
      <p:sp>
        <p:nvSpPr>
          <p:cNvPr id="6" name="TextBox 5"/>
          <p:cNvSpPr txBox="1"/>
          <p:nvPr/>
        </p:nvSpPr>
        <p:spPr>
          <a:xfrm>
            <a:off x="731520" y="3017520"/>
            <a:ext cx="1633667" cy="45720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Design</a:t>
            </a:r>
          </a:p>
        </p:txBody>
      </p:sp>
      <p:sp>
        <p:nvSpPr>
          <p:cNvPr id="7" name="TextBox 6"/>
          <p:cNvSpPr txBox="1"/>
          <p:nvPr/>
        </p:nvSpPr>
        <p:spPr>
          <a:xfrm>
            <a:off x="731520" y="3566160"/>
            <a:ext cx="1633667" cy="1554480"/>
          </a:xfrm>
          <a:prstGeom prst="rect">
            <a:avLst/>
          </a:prstGeom>
          <a:noFill/>
        </p:spPr>
        <p:txBody>
          <a:bodyPr wrap="square" lIns="0" rIns="0" tIns="0" bIns="0" anchor="t">
            <a:spAutoFit/>
          </a:bodyPr>
          <a:lstStyle/>
          <a:p>
            <a:pPr algn="l">
              <a:spcAft>
                <a:spcPts val="600"/>
              </a:spcAft>
            </a:pPr>
            <a:r>
              <a:rPr sz="1400" b="0" i="0">
                <a:solidFill>
                  <a:srgbClr val="B4C7C0"/>
                </a:solidFill>
                <a:latin typeface="Calibri"/>
              </a:rPr>
              <a:t>Template, term sheet, AI or BPMN canvas. Validated as you edit.</a:t>
            </a:r>
          </a:p>
        </p:txBody>
      </p:sp>
      <p:cxnSp>
        <p:nvCxnSpPr>
          <p:cNvPr id="8" name="Connector 7"/>
          <p:cNvCxnSpPr/>
          <p:nvPr/>
        </p:nvCxnSpPr>
        <p:spPr>
          <a:xfrm>
            <a:off x="2575499" y="3611880"/>
            <a:ext cx="219456" cy="0"/>
          </a:xfrm>
          <a:prstGeom prst="line">
            <a:avLst/>
          </a:prstGeom>
          <a:ln w="25400">
            <a:solidFill>
              <a:srgbClr val="7A92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22387" y="2011680"/>
            <a:ext cx="1999427" cy="320040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005267" y="2194560"/>
            <a:ext cx="1542227" cy="685800"/>
          </a:xfrm>
          <a:prstGeom prst="rect">
            <a:avLst/>
          </a:prstGeom>
          <a:noFill/>
        </p:spPr>
        <p:txBody>
          <a:bodyPr wrap="square" lIns="0" rIns="0" tIns="0" bIns="0" anchor="t">
            <a:spAutoFit/>
          </a:bodyPr>
          <a:lstStyle/>
          <a:p>
            <a:pPr algn="l">
              <a:spcAft>
                <a:spcPts val="600"/>
              </a:spcAft>
            </a:pPr>
            <a:r>
              <a:rPr sz="3600" b="1" i="0">
                <a:solidFill>
                  <a:srgbClr val="10B981"/>
                </a:solidFill>
                <a:latin typeface="Calibri"/>
              </a:rPr>
              <a:t>2</a:t>
            </a:r>
          </a:p>
        </p:txBody>
      </p:sp>
      <p:sp>
        <p:nvSpPr>
          <p:cNvPr id="11" name="TextBox 10"/>
          <p:cNvSpPr txBox="1"/>
          <p:nvPr/>
        </p:nvSpPr>
        <p:spPr>
          <a:xfrm>
            <a:off x="3005267" y="3017520"/>
            <a:ext cx="1633667" cy="45720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Template</a:t>
            </a:r>
          </a:p>
        </p:txBody>
      </p:sp>
      <p:sp>
        <p:nvSpPr>
          <p:cNvPr id="12" name="TextBox 11"/>
          <p:cNvSpPr txBox="1"/>
          <p:nvPr/>
        </p:nvSpPr>
        <p:spPr>
          <a:xfrm>
            <a:off x="3005267" y="3566160"/>
            <a:ext cx="1633667" cy="1554480"/>
          </a:xfrm>
          <a:prstGeom prst="rect">
            <a:avLst/>
          </a:prstGeom>
          <a:noFill/>
        </p:spPr>
        <p:txBody>
          <a:bodyPr wrap="square" lIns="0" rIns="0" tIns="0" bIns="0" anchor="t">
            <a:spAutoFit/>
          </a:bodyPr>
          <a:lstStyle/>
          <a:p>
            <a:pPr algn="l">
              <a:spcAft>
                <a:spcPts val="600"/>
              </a:spcAft>
            </a:pPr>
            <a:r>
              <a:rPr sz="1400" b="0" i="0">
                <a:solidFill>
                  <a:srgbClr val="B4C7C0"/>
                </a:solidFill>
                <a:latin typeface="Calibri"/>
              </a:rPr>
              <a:t>Save to the library: published on Solana by its hash, signed by the author.</a:t>
            </a:r>
          </a:p>
        </p:txBody>
      </p:sp>
      <p:cxnSp>
        <p:nvCxnSpPr>
          <p:cNvPr id="13" name="Connector 12"/>
          <p:cNvCxnSpPr/>
          <p:nvPr/>
        </p:nvCxnSpPr>
        <p:spPr>
          <a:xfrm>
            <a:off x="4849246" y="3611880"/>
            <a:ext cx="219456" cy="0"/>
          </a:xfrm>
          <a:prstGeom prst="line">
            <a:avLst/>
          </a:prstGeom>
          <a:ln w="25400">
            <a:solidFill>
              <a:srgbClr val="7A92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96134" y="2011680"/>
            <a:ext cx="1999427" cy="320040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279014" y="2194560"/>
            <a:ext cx="1542227" cy="685800"/>
          </a:xfrm>
          <a:prstGeom prst="rect">
            <a:avLst/>
          </a:prstGeom>
          <a:noFill/>
        </p:spPr>
        <p:txBody>
          <a:bodyPr wrap="square" lIns="0" rIns="0" tIns="0" bIns="0" anchor="t">
            <a:spAutoFit/>
          </a:bodyPr>
          <a:lstStyle/>
          <a:p>
            <a:pPr algn="l">
              <a:spcAft>
                <a:spcPts val="600"/>
              </a:spcAft>
            </a:pPr>
            <a:r>
              <a:rPr sz="3600" b="1" i="0">
                <a:solidFill>
                  <a:srgbClr val="2DD4BF"/>
                </a:solidFill>
                <a:latin typeface="Calibri"/>
              </a:rPr>
              <a:t>3</a:t>
            </a:r>
          </a:p>
        </p:txBody>
      </p:sp>
      <p:sp>
        <p:nvSpPr>
          <p:cNvPr id="16" name="TextBox 15"/>
          <p:cNvSpPr txBox="1"/>
          <p:nvPr/>
        </p:nvSpPr>
        <p:spPr>
          <a:xfrm>
            <a:off x="5279014" y="3017520"/>
            <a:ext cx="1633667" cy="45720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Issue</a:t>
            </a:r>
          </a:p>
        </p:txBody>
      </p:sp>
      <p:sp>
        <p:nvSpPr>
          <p:cNvPr id="17" name="TextBox 16"/>
          <p:cNvSpPr txBox="1"/>
          <p:nvPr/>
        </p:nvSpPr>
        <p:spPr>
          <a:xfrm>
            <a:off x="5279014" y="3566160"/>
            <a:ext cx="1633667" cy="1554480"/>
          </a:xfrm>
          <a:prstGeom prst="rect">
            <a:avLst/>
          </a:prstGeom>
          <a:noFill/>
        </p:spPr>
        <p:txBody>
          <a:bodyPr wrap="square" lIns="0" rIns="0" tIns="0" bIns="0" anchor="t">
            <a:spAutoFit/>
          </a:bodyPr>
          <a:lstStyle/>
          <a:p>
            <a:pPr algn="l">
              <a:spcAft>
                <a:spcPts val="600"/>
              </a:spcAft>
            </a:pPr>
            <a:r>
              <a:rPr sz="1400" b="0" i="0">
                <a:solidFill>
                  <a:srgbClr val="B4C7C0"/>
                </a:solidFill>
                <a:latin typeface="Calibri"/>
              </a:rPr>
              <a:t>Size, strike and observation dates, coupon reserve. The book opens.</a:t>
            </a:r>
          </a:p>
        </p:txBody>
      </p:sp>
      <p:cxnSp>
        <p:nvCxnSpPr>
          <p:cNvPr id="18" name="Connector 17"/>
          <p:cNvCxnSpPr/>
          <p:nvPr/>
        </p:nvCxnSpPr>
        <p:spPr>
          <a:xfrm>
            <a:off x="7122993" y="3611880"/>
            <a:ext cx="219456" cy="0"/>
          </a:xfrm>
          <a:prstGeom prst="line">
            <a:avLst/>
          </a:prstGeom>
          <a:ln w="25400">
            <a:solidFill>
              <a:srgbClr val="7A92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69881" y="2011680"/>
            <a:ext cx="1999427" cy="320040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552761" y="2194560"/>
            <a:ext cx="1542227" cy="685800"/>
          </a:xfrm>
          <a:prstGeom prst="rect">
            <a:avLst/>
          </a:prstGeom>
          <a:noFill/>
        </p:spPr>
        <p:txBody>
          <a:bodyPr wrap="square" lIns="0" rIns="0" tIns="0" bIns="0" anchor="t">
            <a:spAutoFit/>
          </a:bodyPr>
          <a:lstStyle/>
          <a:p>
            <a:pPr algn="l">
              <a:spcAft>
                <a:spcPts val="600"/>
              </a:spcAft>
            </a:pPr>
            <a:r>
              <a:rPr sz="3600" b="1" i="0">
                <a:solidFill>
                  <a:srgbClr val="2DD4BF"/>
                </a:solidFill>
                <a:latin typeface="Calibri"/>
              </a:rPr>
              <a:t>4</a:t>
            </a:r>
          </a:p>
        </p:txBody>
      </p:sp>
      <p:sp>
        <p:nvSpPr>
          <p:cNvPr id="21" name="TextBox 20"/>
          <p:cNvSpPr txBox="1"/>
          <p:nvPr/>
        </p:nvSpPr>
        <p:spPr>
          <a:xfrm>
            <a:off x="7552761" y="3017520"/>
            <a:ext cx="1633667" cy="45720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Sell</a:t>
            </a:r>
          </a:p>
        </p:txBody>
      </p:sp>
      <p:sp>
        <p:nvSpPr>
          <p:cNvPr id="22" name="TextBox 21"/>
          <p:cNvSpPr txBox="1"/>
          <p:nvPr/>
        </p:nvSpPr>
        <p:spPr>
          <a:xfrm>
            <a:off x="7552761" y="3566160"/>
            <a:ext cx="1633667" cy="1554480"/>
          </a:xfrm>
          <a:prstGeom prst="rect">
            <a:avLst/>
          </a:prstGeom>
          <a:noFill/>
        </p:spPr>
        <p:txBody>
          <a:bodyPr wrap="square" lIns="0" rIns="0" tIns="0" bIns="0" anchor="t">
            <a:spAutoFit/>
          </a:bodyPr>
          <a:lstStyle/>
          <a:p>
            <a:pPr algn="l">
              <a:spcAft>
                <a:spcPts val="600"/>
              </a:spcAft>
            </a:pPr>
            <a:r>
              <a:rPr sz="1400" b="0" i="0">
                <a:solidFill>
                  <a:srgbClr val="B4C7C0"/>
                </a:solidFill>
                <a:latin typeface="Calibri"/>
              </a:rPr>
              <a:t>Solana: USDC for units in one transaction. Ethereum: tUSD over CCIP.</a:t>
            </a:r>
          </a:p>
        </p:txBody>
      </p:sp>
      <p:cxnSp>
        <p:nvCxnSpPr>
          <p:cNvPr id="23" name="Connector 22"/>
          <p:cNvCxnSpPr/>
          <p:nvPr/>
        </p:nvCxnSpPr>
        <p:spPr>
          <a:xfrm>
            <a:off x="9396740" y="3611880"/>
            <a:ext cx="219456" cy="0"/>
          </a:xfrm>
          <a:prstGeom prst="line">
            <a:avLst/>
          </a:prstGeom>
          <a:ln w="25400">
            <a:solidFill>
              <a:srgbClr val="7A92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643628" y="2011680"/>
            <a:ext cx="1999427" cy="320040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826508" y="2194560"/>
            <a:ext cx="1542227" cy="685800"/>
          </a:xfrm>
          <a:prstGeom prst="rect">
            <a:avLst/>
          </a:prstGeom>
          <a:noFill/>
        </p:spPr>
        <p:txBody>
          <a:bodyPr wrap="square" lIns="0" rIns="0" tIns="0" bIns="0" anchor="t">
            <a:spAutoFit/>
          </a:bodyPr>
          <a:lstStyle/>
          <a:p>
            <a:pPr algn="l">
              <a:spcAft>
                <a:spcPts val="600"/>
              </a:spcAft>
            </a:pPr>
            <a:r>
              <a:rPr sz="3600" b="1" i="0">
                <a:solidFill>
                  <a:srgbClr val="A78BFA"/>
                </a:solidFill>
                <a:latin typeface="Calibri"/>
              </a:rPr>
              <a:t>5</a:t>
            </a:r>
          </a:p>
        </p:txBody>
      </p:sp>
      <p:sp>
        <p:nvSpPr>
          <p:cNvPr id="26" name="TextBox 25"/>
          <p:cNvSpPr txBox="1"/>
          <p:nvPr/>
        </p:nvSpPr>
        <p:spPr>
          <a:xfrm>
            <a:off x="9826508" y="3017520"/>
            <a:ext cx="1633667" cy="45720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Observe &amp; pay</a:t>
            </a:r>
          </a:p>
        </p:txBody>
      </p:sp>
      <p:sp>
        <p:nvSpPr>
          <p:cNvPr id="27" name="TextBox 26"/>
          <p:cNvSpPr txBox="1"/>
          <p:nvPr/>
        </p:nvSpPr>
        <p:spPr>
          <a:xfrm>
            <a:off x="9826508" y="3566160"/>
            <a:ext cx="1633667" cy="1554480"/>
          </a:xfrm>
          <a:prstGeom prst="rect">
            <a:avLst/>
          </a:prstGeom>
          <a:noFill/>
        </p:spPr>
        <p:txBody>
          <a:bodyPr wrap="square" lIns="0" rIns="0" tIns="0" bIns="0" anchor="t">
            <a:spAutoFit/>
          </a:bodyPr>
          <a:lstStyle/>
          <a:p>
            <a:pPr algn="l">
              <a:spcAft>
                <a:spcPts val="600"/>
              </a:spcAft>
            </a:pPr>
            <a:r>
              <a:rPr sz="1400" b="0" i="0">
                <a:solidFill>
                  <a:srgbClr val="B4C7C0"/>
                </a:solidFill>
                <a:latin typeface="Calibri"/>
              </a:rPr>
              <a:t>CRE reads Chainlink feeds and settles on-chain. Paid on either chain.</a:t>
            </a:r>
          </a:p>
        </p:txBody>
      </p:sp>
      <p:sp>
        <p:nvSpPr>
          <p:cNvPr id="28" name="TextBox 27"/>
          <p:cNvSpPr txBox="1"/>
          <p:nvPr/>
        </p:nvSpPr>
        <p:spPr>
          <a:xfrm>
            <a:off x="548640" y="5440680"/>
            <a:ext cx="11094415" cy="594360"/>
          </a:xfrm>
          <a:prstGeom prst="rect">
            <a:avLst/>
          </a:prstGeom>
          <a:noFill/>
        </p:spPr>
        <p:txBody>
          <a:bodyPr wrap="square" lIns="0" rIns="0" tIns="0" bIns="0" anchor="t">
            <a:spAutoFit/>
          </a:bodyPr>
          <a:lstStyle/>
          <a:p>
            <a:pPr algn="l">
              <a:spcAft>
                <a:spcPts val="600"/>
              </a:spcAft>
            </a:pPr>
            <a:r>
              <a:rPr sz="1400" b="0" i="0">
                <a:solidFill>
                  <a:srgbClr val="7A928A"/>
                </a:solidFill>
                <a:latin typeface="Calibri"/>
              </a:rPr>
              <a:t>Five products: fixed coupon note, reverse convertible, phoenix with memory, snowball, principal-protected. One underlying or a worst-of basket of up to three. Cash or physical settlement.</a:t>
            </a:r>
          </a:p>
        </p:txBody>
      </p:sp>
      <p:sp>
        <p:nvSpPr>
          <p:cNvPr id="29" name="TextBox 28"/>
          <p:cNvSpPr txBox="1"/>
          <p:nvPr/>
        </p:nvSpPr>
        <p:spPr>
          <a:xfrm>
            <a:off x="548640" y="6446520"/>
            <a:ext cx="5486400" cy="228600"/>
          </a:xfrm>
          <a:prstGeom prst="rect">
            <a:avLst/>
          </a:prstGeom>
          <a:noFill/>
        </p:spPr>
        <p:txBody>
          <a:bodyPr wrap="square" lIns="0" rIns="0" tIns="0" bIns="0" anchor="t">
            <a:spAutoFit/>
          </a:bodyPr>
          <a:lstStyle/>
          <a:p>
            <a:pPr algn="l">
              <a:spcAft>
                <a:spcPts val="600"/>
              </a:spcAft>
            </a:pPr>
            <a:r>
              <a:rPr sz="1000" b="0" i="0">
                <a:solidFill>
                  <a:srgbClr val="7A928A"/>
                </a:solidFill>
                <a:latin typeface="Calibri"/>
              </a:rPr>
              <a:t>StratosNotes · sp.stratoslab.app</a:t>
            </a:r>
          </a:p>
        </p:txBody>
      </p:sp>
      <p:sp>
        <p:nvSpPr>
          <p:cNvPr id="30" name="TextBox 29"/>
          <p:cNvSpPr txBox="1"/>
          <p:nvPr/>
        </p:nvSpPr>
        <p:spPr>
          <a:xfrm>
            <a:off x="10728655" y="6446520"/>
            <a:ext cx="914400" cy="228600"/>
          </a:xfrm>
          <a:prstGeom prst="rect">
            <a:avLst/>
          </a:prstGeom>
          <a:noFill/>
        </p:spPr>
        <p:txBody>
          <a:bodyPr wrap="square" lIns="0" rIns="0" tIns="0" bIns="0" anchor="t">
            <a:spAutoFit/>
          </a:bodyPr>
          <a:lstStyle/>
          <a:p>
            <a:pPr algn="r">
              <a:spcAft>
                <a:spcPts val="600"/>
              </a:spcAft>
            </a:pPr>
            <a:r>
              <a:rPr sz="1000" b="0" i="0">
                <a:solidFill>
                  <a:srgbClr val="7A928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B0A"/>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lIns="0" rIns="0" tIns="0" bIns="0" anchor="t">
            <a:spAutoFit/>
          </a:bodyPr>
          <a:lstStyle/>
          <a:p>
            <a:pPr algn="l">
              <a:spcAft>
                <a:spcPts val="600"/>
              </a:spcAft>
            </a:pPr>
            <a:r>
              <a:rPr sz="1200" b="1" i="0">
                <a:solidFill>
                  <a:srgbClr val="10B981"/>
                </a:solidFill>
                <a:latin typeface="Calibri"/>
              </a:rPr>
              <a:t>HOW IT WORKS</a:t>
            </a:r>
          </a:p>
        </p:txBody>
      </p:sp>
      <p:sp>
        <p:nvSpPr>
          <p:cNvPr id="3" name="Title"/>
          <p:cNvSpPr txBox="1"/>
          <p:nvPr/>
        </p:nvSpPr>
        <p:spPr>
          <a:xfrm>
            <a:off x="548640" y="685800"/>
            <a:ext cx="11094415" cy="822960"/>
          </a:xfrm>
          <a:prstGeom prst="rect">
            <a:avLst/>
          </a:prstGeom>
          <a:noFill/>
        </p:spPr>
        <p:txBody>
          <a:bodyPr wrap="square" lIns="0" rIns="0" tIns="0" bIns="0" anchor="t">
            <a:spAutoFit/>
          </a:bodyPr>
          <a:lstStyle/>
          <a:p>
            <a:pPr algn="l">
              <a:spcAft>
                <a:spcPts val="600"/>
              </a:spcAft>
            </a:pPr>
            <a:r>
              <a:rPr sz="3200" b="1" i="0">
                <a:solidFill>
                  <a:srgbClr val="E9F3EF"/>
                </a:solidFill>
                <a:latin typeface="Calibri"/>
              </a:rPr>
              <a:t>One program, one CRE workflow, one CCIP lane</a:t>
            </a:r>
          </a:p>
        </p:txBody>
      </p:sp>
      <p:sp>
        <p:nvSpPr>
          <p:cNvPr id="4" name="Rounded Rectangle 3"/>
          <p:cNvSpPr/>
          <p:nvPr/>
        </p:nvSpPr>
        <p:spPr>
          <a:xfrm>
            <a:off x="548640" y="1828800"/>
            <a:ext cx="1965960" cy="868680"/>
          </a:xfrm>
          <a:prstGeom prst="roundRect">
            <a:avLst>
              <a:gd name="adj" fmla="val 1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76656" y="1828800"/>
            <a:ext cx="1709928" cy="868680"/>
          </a:xfrm>
          <a:prstGeom prst="rect">
            <a:avLst/>
          </a:prstGeom>
          <a:noFill/>
        </p:spPr>
        <p:txBody>
          <a:bodyPr wrap="square" lIns="0" rIns="0" tIns="0" bIns="0" anchor="ctr">
            <a:spAutoFit/>
          </a:bodyPr>
          <a:lstStyle/>
          <a:p>
            <a:pPr algn="ctr">
              <a:spcAft>
                <a:spcPts val="200"/>
              </a:spcAft>
            </a:pPr>
            <a:r>
              <a:rPr sz="1500" b="1" i="0">
                <a:solidFill>
                  <a:srgbClr val="E9F3EF"/>
                </a:solidFill>
                <a:latin typeface="Calibri"/>
              </a:rPr>
              <a:t>Author</a:t>
            </a:r>
          </a:p>
          <a:p>
            <a:pPr algn="ctr">
              <a:spcAft>
                <a:spcPts val="200"/>
              </a:spcAft>
            </a:pPr>
            <a:r>
              <a:rPr sz="1200" b="0" i="0">
                <a:solidFill>
                  <a:srgbClr val="B4C7C0"/>
                </a:solidFill>
                <a:latin typeface="Calibri"/>
              </a:rPr>
              <a:t>template · term sheet · AI · canvas</a:t>
            </a:r>
          </a:p>
        </p:txBody>
      </p:sp>
      <p:sp>
        <p:nvSpPr>
          <p:cNvPr id="6" name="Rounded Rectangle 5"/>
          <p:cNvSpPr/>
          <p:nvPr/>
        </p:nvSpPr>
        <p:spPr>
          <a:xfrm>
            <a:off x="548640" y="3246120"/>
            <a:ext cx="1965960" cy="868680"/>
          </a:xfrm>
          <a:prstGeom prst="roundRect">
            <a:avLst>
              <a:gd name="adj" fmla="val 1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76656" y="3246120"/>
            <a:ext cx="1709928" cy="868680"/>
          </a:xfrm>
          <a:prstGeom prst="rect">
            <a:avLst/>
          </a:prstGeom>
          <a:noFill/>
        </p:spPr>
        <p:txBody>
          <a:bodyPr wrap="square" lIns="0" rIns="0" tIns="0" bIns="0" anchor="ctr">
            <a:spAutoFit/>
          </a:bodyPr>
          <a:lstStyle/>
          <a:p>
            <a:pPr algn="ctr">
              <a:spcAft>
                <a:spcPts val="200"/>
              </a:spcAft>
            </a:pPr>
            <a:r>
              <a:rPr sz="1500" b="1" i="0">
                <a:solidFill>
                  <a:srgbClr val="E9F3EF"/>
                </a:solidFill>
                <a:latin typeface="Calibri"/>
              </a:rPr>
              <a:t>BPMN workflow</a:t>
            </a:r>
          </a:p>
          <a:p>
            <a:pPr algn="ctr">
              <a:spcAft>
                <a:spcPts val="200"/>
              </a:spcAft>
            </a:pPr>
            <a:r>
              <a:rPr sz="1200" b="0" i="0">
                <a:solidFill>
                  <a:srgbClr val="B4C7C0"/>
                </a:solidFill>
                <a:latin typeface="Calibri"/>
              </a:rPr>
              <a:t>validated, compiled</a:t>
            </a:r>
          </a:p>
        </p:txBody>
      </p:sp>
      <p:sp>
        <p:nvSpPr>
          <p:cNvPr id="8" name="Rounded Rectangle 7"/>
          <p:cNvSpPr/>
          <p:nvPr/>
        </p:nvSpPr>
        <p:spPr>
          <a:xfrm>
            <a:off x="548640" y="4663440"/>
            <a:ext cx="1965960" cy="868680"/>
          </a:xfrm>
          <a:prstGeom prst="roundRect">
            <a:avLst>
              <a:gd name="adj" fmla="val 1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76656" y="4663440"/>
            <a:ext cx="1709928" cy="868680"/>
          </a:xfrm>
          <a:prstGeom prst="rect">
            <a:avLst/>
          </a:prstGeom>
          <a:noFill/>
        </p:spPr>
        <p:txBody>
          <a:bodyPr wrap="square" lIns="0" rIns="0" tIns="0" bIns="0" anchor="ctr">
            <a:spAutoFit/>
          </a:bodyPr>
          <a:lstStyle/>
          <a:p>
            <a:pPr algn="ctr">
              <a:spcAft>
                <a:spcPts val="200"/>
              </a:spcAft>
            </a:pPr>
            <a:r>
              <a:rPr sz="1500" b="1" i="0">
                <a:solidFill>
                  <a:srgbClr val="E9F3EF"/>
                </a:solidFill>
                <a:latin typeface="Calibri"/>
              </a:rPr>
              <a:t>Definition</a:t>
            </a:r>
          </a:p>
          <a:p>
            <a:pPr algn="ctr">
              <a:spcAft>
                <a:spcPts val="200"/>
              </a:spcAft>
            </a:pPr>
            <a:r>
              <a:rPr sz="1200" b="0" i="0">
                <a:solidFill>
                  <a:srgbClr val="B4C7C0"/>
                </a:solidFill>
                <a:latin typeface="Calibri"/>
              </a:rPr>
              <a:t>Solana account, by hash</a:t>
            </a:r>
          </a:p>
        </p:txBody>
      </p:sp>
      <p:cxnSp>
        <p:nvCxnSpPr>
          <p:cNvPr id="10" name="Connector 9"/>
          <p:cNvCxnSpPr/>
          <p:nvPr/>
        </p:nvCxnSpPr>
        <p:spPr>
          <a:xfrm>
            <a:off x="1531620" y="2697480"/>
            <a:ext cx="0" cy="548640"/>
          </a:xfrm>
          <a:prstGeom prst="line">
            <a:avLst/>
          </a:prstGeom>
          <a:ln w="22225">
            <a:solidFill>
              <a:srgbClr val="7A928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531620" y="4114800"/>
            <a:ext cx="0" cy="548640"/>
          </a:xfrm>
          <a:prstGeom prst="line">
            <a:avLst/>
          </a:prstGeom>
          <a:ln w="22225">
            <a:solidFill>
              <a:srgbClr val="7A92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154680" y="3063240"/>
            <a:ext cx="3017520" cy="1965960"/>
          </a:xfrm>
          <a:prstGeom prst="roundRect">
            <a:avLst>
              <a:gd name="adj" fmla="val 8000"/>
            </a:avLst>
          </a:prstGeom>
          <a:solidFill>
            <a:srgbClr val="0C1613"/>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282696" y="3063240"/>
            <a:ext cx="2761488" cy="1965960"/>
          </a:xfrm>
          <a:prstGeom prst="rect">
            <a:avLst/>
          </a:prstGeom>
          <a:noFill/>
        </p:spPr>
        <p:txBody>
          <a:bodyPr wrap="square" lIns="0" rIns="0" tIns="0" bIns="0" anchor="ctr">
            <a:spAutoFit/>
          </a:bodyPr>
          <a:lstStyle/>
          <a:p>
            <a:pPr algn="ctr">
              <a:spcAft>
                <a:spcPts val="200"/>
              </a:spcAft>
            </a:pPr>
            <a:r>
              <a:rPr sz="2000" b="1" i="0">
                <a:solidFill>
                  <a:srgbClr val="E9F3EF"/>
                </a:solidFill>
                <a:latin typeface="Calibri"/>
              </a:rPr>
              <a:t>flow_engine</a:t>
            </a:r>
          </a:p>
          <a:p>
            <a:pPr algn="ctr">
              <a:spcAft>
                <a:spcPts val="200"/>
              </a:spcAft>
            </a:pPr>
            <a:r>
              <a:rPr sz="1300" b="0" i="0">
                <a:solidFill>
                  <a:srgbClr val="B4C7C0"/>
                </a:solidFill>
                <a:latin typeface="Calibri"/>
              </a:rPr>
              <a:t>One Anchor program on Solana.
Runs every issuance: state machine,
holdings, vault, outbox</a:t>
            </a:r>
          </a:p>
        </p:txBody>
      </p:sp>
      <p:cxnSp>
        <p:nvCxnSpPr>
          <p:cNvPr id="14" name="Connector 13"/>
          <p:cNvCxnSpPr/>
          <p:nvPr/>
        </p:nvCxnSpPr>
        <p:spPr>
          <a:xfrm flipV="1">
            <a:off x="2514600" y="4572000"/>
            <a:ext cx="640080" cy="521208"/>
          </a:xfrm>
          <a:prstGeom prst="line">
            <a:avLst/>
          </a:prstGeom>
          <a:ln w="22225">
            <a:solidFill>
              <a:srgbClr val="7A92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154680" y="1691640"/>
            <a:ext cx="1417320" cy="868680"/>
          </a:xfrm>
          <a:prstGeom prst="roundRect">
            <a:avLst>
              <a:gd name="adj" fmla="val 18000"/>
            </a:avLst>
          </a:prstGeom>
          <a:solidFill>
            <a:srgbClr val="101C18"/>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282696" y="1691640"/>
            <a:ext cx="1161288" cy="868680"/>
          </a:xfrm>
          <a:prstGeom prst="rect">
            <a:avLst/>
          </a:prstGeom>
          <a:noFill/>
        </p:spPr>
        <p:txBody>
          <a:bodyPr wrap="square" lIns="0" rIns="0" tIns="0" bIns="0" anchor="ctr">
            <a:spAutoFit/>
          </a:bodyPr>
          <a:lstStyle/>
          <a:p>
            <a:pPr algn="ctr">
              <a:spcAft>
                <a:spcPts val="200"/>
              </a:spcAft>
            </a:pPr>
            <a:r>
              <a:rPr sz="1400" b="1" i="0">
                <a:solidFill>
                  <a:srgbClr val="E9F3EF"/>
                </a:solidFill>
                <a:latin typeface="Calibri"/>
              </a:rPr>
              <a:t>Chainlink feeds</a:t>
            </a:r>
          </a:p>
          <a:p>
            <a:pPr algn="ctr">
              <a:spcAft>
                <a:spcPts val="200"/>
              </a:spcAft>
            </a:pPr>
            <a:r>
              <a:rPr sz="1200" b="0" i="0">
                <a:solidFill>
                  <a:srgbClr val="B4C7C0"/>
                </a:solidFill>
                <a:latin typeface="Calibri"/>
              </a:rPr>
              <a:t>ETH · BTC · SOL</a:t>
            </a:r>
          </a:p>
        </p:txBody>
      </p:sp>
      <p:sp>
        <p:nvSpPr>
          <p:cNvPr id="17" name="Rounded Rectangle 16"/>
          <p:cNvSpPr/>
          <p:nvPr/>
        </p:nvSpPr>
        <p:spPr>
          <a:xfrm>
            <a:off x="4800600" y="1691640"/>
            <a:ext cx="1371600" cy="868680"/>
          </a:xfrm>
          <a:prstGeom prst="roundRect">
            <a:avLst>
              <a:gd name="adj" fmla="val 18000"/>
            </a:avLst>
          </a:prstGeom>
          <a:solidFill>
            <a:srgbClr val="101C18"/>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928616" y="1691640"/>
            <a:ext cx="1115568" cy="868680"/>
          </a:xfrm>
          <a:prstGeom prst="rect">
            <a:avLst/>
          </a:prstGeom>
          <a:noFill/>
        </p:spPr>
        <p:txBody>
          <a:bodyPr wrap="square" lIns="0" rIns="0" tIns="0" bIns="0" anchor="ctr">
            <a:spAutoFit/>
          </a:bodyPr>
          <a:lstStyle/>
          <a:p>
            <a:pPr algn="ctr">
              <a:spcAft>
                <a:spcPts val="200"/>
              </a:spcAft>
            </a:pPr>
            <a:r>
              <a:rPr sz="1400" b="1" i="0">
                <a:solidFill>
                  <a:srgbClr val="E9F3EF"/>
                </a:solidFill>
                <a:latin typeface="Calibri"/>
              </a:rPr>
              <a:t>CRE keeper</a:t>
            </a:r>
          </a:p>
          <a:p>
            <a:pPr algn="ctr">
              <a:spcAft>
                <a:spcPts val="200"/>
              </a:spcAft>
            </a:pPr>
            <a:r>
              <a:rPr sz="1200" b="0" i="0">
                <a:solidFill>
                  <a:srgbClr val="B4C7C0"/>
                </a:solidFill>
                <a:latin typeface="Calibri"/>
              </a:rPr>
              <a:t>observe · decide</a:t>
            </a:r>
          </a:p>
        </p:txBody>
      </p:sp>
      <p:cxnSp>
        <p:nvCxnSpPr>
          <p:cNvPr id="19" name="Connector 18"/>
          <p:cNvCxnSpPr/>
          <p:nvPr/>
        </p:nvCxnSpPr>
        <p:spPr>
          <a:xfrm>
            <a:off x="4572000" y="2121408"/>
            <a:ext cx="228600" cy="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486400" y="2560320"/>
            <a:ext cx="0" cy="502920"/>
          </a:xfrm>
          <a:prstGeom prst="line">
            <a:avLst/>
          </a:prstGeom>
          <a:ln w="22225">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559552" y="2633472"/>
            <a:ext cx="1371600" cy="365760"/>
          </a:xfrm>
          <a:prstGeom prst="rect">
            <a:avLst/>
          </a:prstGeom>
          <a:noFill/>
        </p:spPr>
        <p:txBody>
          <a:bodyPr wrap="square" lIns="0" rIns="0" tIns="0" bIns="0" anchor="t">
            <a:spAutoFit/>
          </a:bodyPr>
          <a:lstStyle/>
          <a:p>
            <a:pPr algn="l">
              <a:spcAft>
                <a:spcPts val="600"/>
              </a:spcAft>
            </a:pPr>
            <a:r>
              <a:rPr sz="1100" b="0" i="0">
                <a:solidFill>
                  <a:srgbClr val="2DD4BF"/>
                </a:solidFill>
                <a:latin typeface="Calibri"/>
              </a:rPr>
              <a:t>signed reports</a:t>
            </a:r>
          </a:p>
        </p:txBody>
      </p:sp>
      <p:sp>
        <p:nvSpPr>
          <p:cNvPr id="22" name="Rounded Rectangle 21"/>
          <p:cNvSpPr/>
          <p:nvPr/>
        </p:nvSpPr>
        <p:spPr>
          <a:xfrm>
            <a:off x="6720840" y="3063240"/>
            <a:ext cx="1325880" cy="822960"/>
          </a:xfrm>
          <a:prstGeom prst="roundRect">
            <a:avLst>
              <a:gd name="adj" fmla="val 18000"/>
            </a:avLst>
          </a:prstGeom>
          <a:solidFill>
            <a:srgbClr val="101C18"/>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848856" y="3063240"/>
            <a:ext cx="1069848" cy="822960"/>
          </a:xfrm>
          <a:prstGeom prst="rect">
            <a:avLst/>
          </a:prstGeom>
          <a:noFill/>
        </p:spPr>
        <p:txBody>
          <a:bodyPr wrap="square" lIns="0" rIns="0" tIns="0" bIns="0" anchor="ctr">
            <a:spAutoFit/>
          </a:bodyPr>
          <a:lstStyle/>
          <a:p>
            <a:pPr algn="ctr">
              <a:spcAft>
                <a:spcPts val="200"/>
              </a:spcAft>
            </a:pPr>
            <a:r>
              <a:rPr sz="1400" b="1" i="0">
                <a:solidFill>
                  <a:srgbClr val="E9F3EF"/>
                </a:solidFill>
                <a:latin typeface="Calibri"/>
              </a:rPr>
              <a:t>Outbox</a:t>
            </a:r>
          </a:p>
          <a:p>
            <a:pPr algn="ctr">
              <a:spcAft>
                <a:spcPts val="200"/>
              </a:spcAft>
            </a:pPr>
            <a:r>
              <a:rPr sz="1200" b="0" i="0">
                <a:solidFill>
                  <a:srgbClr val="B4C7C0"/>
                </a:solidFill>
                <a:latin typeface="Calibri"/>
              </a:rPr>
              <a:t>locked by CRE</a:t>
            </a:r>
          </a:p>
        </p:txBody>
      </p:sp>
      <p:sp>
        <p:nvSpPr>
          <p:cNvPr id="24" name="Rounded Rectangle 23"/>
          <p:cNvSpPr/>
          <p:nvPr/>
        </p:nvSpPr>
        <p:spPr>
          <a:xfrm>
            <a:off x="8366760" y="3063240"/>
            <a:ext cx="1325880" cy="822960"/>
          </a:xfrm>
          <a:prstGeom prst="roundRect">
            <a:avLst>
              <a:gd name="adj" fmla="val 18000"/>
            </a:avLst>
          </a:prstGeom>
          <a:solidFill>
            <a:srgbClr val="101C18"/>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94776" y="3063240"/>
            <a:ext cx="1069848" cy="822960"/>
          </a:xfrm>
          <a:prstGeom prst="rect">
            <a:avLst/>
          </a:prstGeom>
          <a:noFill/>
        </p:spPr>
        <p:txBody>
          <a:bodyPr wrap="square" lIns="0" rIns="0" tIns="0" bIns="0" anchor="ctr">
            <a:spAutoFit/>
          </a:bodyPr>
          <a:lstStyle/>
          <a:p>
            <a:pPr algn="ctr">
              <a:spcAft>
                <a:spcPts val="200"/>
              </a:spcAft>
            </a:pPr>
            <a:r>
              <a:rPr sz="1400" b="1" i="0">
                <a:solidFill>
                  <a:srgbClr val="E9F3EF"/>
                </a:solidFill>
                <a:latin typeface="Calibri"/>
              </a:rPr>
              <a:t>Relay</a:t>
            </a:r>
          </a:p>
          <a:p>
            <a:pPr algn="ctr">
              <a:spcAft>
                <a:spcPts val="200"/>
              </a:spcAft>
            </a:pPr>
            <a:r>
              <a:rPr sz="1200" b="0" i="0">
                <a:solidFill>
                  <a:srgbClr val="B4C7C0"/>
                </a:solidFill>
                <a:latin typeface="Calibri"/>
              </a:rPr>
              <a:t>anyone can run</a:t>
            </a:r>
          </a:p>
        </p:txBody>
      </p:sp>
      <p:cxnSp>
        <p:nvCxnSpPr>
          <p:cNvPr id="26" name="Connector 25"/>
          <p:cNvCxnSpPr/>
          <p:nvPr/>
        </p:nvCxnSpPr>
        <p:spPr>
          <a:xfrm>
            <a:off x="6172200" y="3474720"/>
            <a:ext cx="548640" cy="0"/>
          </a:xfrm>
          <a:prstGeom prst="line">
            <a:avLst/>
          </a:prstGeom>
          <a:ln w="22225">
            <a:solidFill>
              <a:srgbClr val="A78BF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046720" y="3474720"/>
            <a:ext cx="320040" cy="0"/>
          </a:xfrm>
          <a:prstGeom prst="line">
            <a:avLst/>
          </a:prstGeom>
          <a:ln w="22225">
            <a:solidFill>
              <a:srgbClr val="A78BF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012680" y="3063240"/>
            <a:ext cx="1627632" cy="1965960"/>
          </a:xfrm>
          <a:prstGeom prst="roundRect">
            <a:avLst>
              <a:gd name="adj" fmla="val 8000"/>
            </a:avLst>
          </a:prstGeom>
          <a:solidFill>
            <a:srgbClr val="101C18"/>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0696" y="3063240"/>
            <a:ext cx="1371600" cy="1965960"/>
          </a:xfrm>
          <a:prstGeom prst="rect">
            <a:avLst/>
          </a:prstGeom>
          <a:noFill/>
        </p:spPr>
        <p:txBody>
          <a:bodyPr wrap="square" lIns="0" rIns="0" tIns="0" bIns="0" anchor="ctr">
            <a:spAutoFit/>
          </a:bodyPr>
          <a:lstStyle/>
          <a:p>
            <a:pPr algn="ctr">
              <a:spcAft>
                <a:spcPts val="200"/>
              </a:spcAft>
            </a:pPr>
            <a:r>
              <a:rPr sz="1500" b="1" i="0">
                <a:solidFill>
                  <a:srgbClr val="E9F3EF"/>
                </a:solidFill>
                <a:latin typeface="Calibri"/>
              </a:rPr>
              <a:t>Chainlink CCIP</a:t>
            </a:r>
          </a:p>
          <a:p>
            <a:pPr algn="ctr">
              <a:spcAft>
                <a:spcPts val="200"/>
              </a:spcAft>
            </a:pPr>
            <a:r>
              <a:rPr sz="1200" b="0" i="0">
                <a:solidFill>
                  <a:srgbClr val="B4C7C0"/>
                </a:solidFill>
                <a:latin typeface="Calibri"/>
              </a:rPr>
              <a:t>tUSD · tETH
tBTC · tSOL</a:t>
            </a:r>
          </a:p>
        </p:txBody>
      </p:sp>
      <p:cxnSp>
        <p:nvCxnSpPr>
          <p:cNvPr id="30" name="Connector 29"/>
          <p:cNvCxnSpPr/>
          <p:nvPr/>
        </p:nvCxnSpPr>
        <p:spPr>
          <a:xfrm>
            <a:off x="9692640" y="3474720"/>
            <a:ext cx="320040" cy="0"/>
          </a:xfrm>
          <a:prstGeom prst="line">
            <a:avLst/>
          </a:prstGeom>
          <a:ln w="22225">
            <a:solidFill>
              <a:srgbClr val="A78BF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012680" y="1691640"/>
            <a:ext cx="1627632" cy="868680"/>
          </a:xfrm>
          <a:prstGeom prst="roundRect">
            <a:avLst>
              <a:gd name="adj" fmla="val 18000"/>
            </a:avLst>
          </a:prstGeom>
          <a:solidFill>
            <a:srgbClr val="101C18"/>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140696" y="1691640"/>
            <a:ext cx="1371600" cy="868680"/>
          </a:xfrm>
          <a:prstGeom prst="rect">
            <a:avLst/>
          </a:prstGeom>
          <a:noFill/>
        </p:spPr>
        <p:txBody>
          <a:bodyPr wrap="square" lIns="0" rIns="0" tIns="0" bIns="0" anchor="ctr">
            <a:spAutoFit/>
          </a:bodyPr>
          <a:lstStyle/>
          <a:p>
            <a:pPr algn="ctr">
              <a:spcAft>
                <a:spcPts val="200"/>
              </a:spcAft>
            </a:pPr>
            <a:r>
              <a:rPr sz="1500" b="1" i="0">
                <a:solidFill>
                  <a:srgbClr val="E9F3EF"/>
                </a:solidFill>
                <a:latin typeface="Calibri"/>
              </a:rPr>
              <a:t>Ethereum</a:t>
            </a:r>
          </a:p>
          <a:p>
            <a:pPr algn="ctr">
              <a:spcAft>
                <a:spcPts val="200"/>
              </a:spcAft>
            </a:pPr>
            <a:r>
              <a:rPr sz="1200" b="0" i="0">
                <a:solidFill>
                  <a:srgbClr val="B4C7C0"/>
                </a:solidFill>
                <a:latin typeface="Calibri"/>
              </a:rPr>
              <a:t>investors (Sepolia)</a:t>
            </a:r>
          </a:p>
        </p:txBody>
      </p:sp>
      <p:cxnSp>
        <p:nvCxnSpPr>
          <p:cNvPr id="33" name="Connector 32"/>
          <p:cNvCxnSpPr/>
          <p:nvPr/>
        </p:nvCxnSpPr>
        <p:spPr>
          <a:xfrm flipV="1">
            <a:off x="10607040" y="2560320"/>
            <a:ext cx="0" cy="502920"/>
          </a:xfrm>
          <a:prstGeom prst="line">
            <a:avLst/>
          </a:prstGeom>
          <a:ln w="22225">
            <a:solidFill>
              <a:srgbClr val="A78BF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064240" y="2560320"/>
            <a:ext cx="0" cy="502920"/>
          </a:xfrm>
          <a:prstGeom prst="line">
            <a:avLst/>
          </a:prstGeom>
          <a:ln w="22225">
            <a:solidFill>
              <a:srgbClr val="A78BF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6172200" y="4617720"/>
            <a:ext cx="3840480" cy="0"/>
          </a:xfrm>
          <a:prstGeom prst="line">
            <a:avLst/>
          </a:prstGeom>
          <a:ln w="22225">
            <a:solidFill>
              <a:srgbClr val="A78BF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720840" y="4681728"/>
            <a:ext cx="3200400" cy="320040"/>
          </a:xfrm>
          <a:prstGeom prst="rect">
            <a:avLst/>
          </a:prstGeom>
          <a:noFill/>
        </p:spPr>
        <p:txBody>
          <a:bodyPr wrap="square" lIns="0" rIns="0" tIns="0" bIns="0" anchor="t">
            <a:spAutoFit/>
          </a:bodyPr>
          <a:lstStyle/>
          <a:p>
            <a:pPr algn="l">
              <a:spcAft>
                <a:spcPts val="600"/>
              </a:spcAft>
            </a:pPr>
            <a:r>
              <a:rPr sz="1100" b="0" i="0">
                <a:solidFill>
                  <a:srgbClr val="A78BFA"/>
                </a:solidFill>
                <a:latin typeface="Calibri"/>
              </a:rPr>
              <a:t>subscriptions in: ccip_receive</a:t>
            </a:r>
          </a:p>
        </p:txBody>
      </p:sp>
      <p:sp>
        <p:nvSpPr>
          <p:cNvPr id="37" name="TextBox 36"/>
          <p:cNvSpPr txBox="1"/>
          <p:nvPr/>
        </p:nvSpPr>
        <p:spPr>
          <a:xfrm>
            <a:off x="6720840" y="3931920"/>
            <a:ext cx="3200400" cy="320040"/>
          </a:xfrm>
          <a:prstGeom prst="rect">
            <a:avLst/>
          </a:prstGeom>
          <a:noFill/>
        </p:spPr>
        <p:txBody>
          <a:bodyPr wrap="square" lIns="0" rIns="0" tIns="0" bIns="0" anchor="t">
            <a:spAutoFit/>
          </a:bodyPr>
          <a:lstStyle/>
          <a:p>
            <a:pPr algn="l">
              <a:spcAft>
                <a:spcPts val="600"/>
              </a:spcAft>
            </a:pPr>
            <a:r>
              <a:rPr sz="1100" b="0" i="0">
                <a:solidFill>
                  <a:srgbClr val="A78BFA"/>
                </a:solidFill>
                <a:latin typeface="Calibri"/>
              </a:rPr>
              <a:t>payouts out: ccip_send</a:t>
            </a:r>
          </a:p>
        </p:txBody>
      </p:sp>
      <p:sp>
        <p:nvSpPr>
          <p:cNvPr id="38" name="TextBox 37"/>
          <p:cNvSpPr txBox="1"/>
          <p:nvPr/>
        </p:nvSpPr>
        <p:spPr>
          <a:xfrm>
            <a:off x="548640" y="5897880"/>
            <a:ext cx="11094415" cy="365760"/>
          </a:xfrm>
          <a:prstGeom prst="rect">
            <a:avLst/>
          </a:prstGeom>
          <a:noFill/>
        </p:spPr>
        <p:txBody>
          <a:bodyPr wrap="square" lIns="0" rIns="0" tIns="0" bIns="0" anchor="t">
            <a:spAutoFit/>
          </a:bodyPr>
          <a:lstStyle/>
          <a:p>
            <a:pPr algn="l">
              <a:spcAft>
                <a:spcPts val="600"/>
              </a:spcAft>
            </a:pPr>
            <a:r>
              <a:rPr sz="1300" b="0" i="0">
                <a:solidFill>
                  <a:srgbClr val="7A928A"/>
                </a:solidFill>
                <a:latin typeface="Calibri"/>
              </a:rPr>
              <a:t>Prices always come from Chainlink feeds; the lifecycle always runs on Solana; money and delivered tokens cross chains.</a:t>
            </a:r>
          </a:p>
        </p:txBody>
      </p:sp>
      <p:sp>
        <p:nvSpPr>
          <p:cNvPr id="39" name="TextBox 38"/>
          <p:cNvSpPr txBox="1"/>
          <p:nvPr/>
        </p:nvSpPr>
        <p:spPr>
          <a:xfrm>
            <a:off x="548640" y="6446520"/>
            <a:ext cx="5486400" cy="228600"/>
          </a:xfrm>
          <a:prstGeom prst="rect">
            <a:avLst/>
          </a:prstGeom>
          <a:noFill/>
        </p:spPr>
        <p:txBody>
          <a:bodyPr wrap="square" lIns="0" rIns="0" tIns="0" bIns="0" anchor="t">
            <a:spAutoFit/>
          </a:bodyPr>
          <a:lstStyle/>
          <a:p>
            <a:pPr algn="l">
              <a:spcAft>
                <a:spcPts val="600"/>
              </a:spcAft>
            </a:pPr>
            <a:r>
              <a:rPr sz="1000" b="0" i="0">
                <a:solidFill>
                  <a:srgbClr val="7A928A"/>
                </a:solidFill>
                <a:latin typeface="Calibri"/>
              </a:rPr>
              <a:t>StratosNotes · sp.stratoslab.app</a:t>
            </a:r>
          </a:p>
        </p:txBody>
      </p:sp>
      <p:sp>
        <p:nvSpPr>
          <p:cNvPr id="40" name="TextBox 39"/>
          <p:cNvSpPr txBox="1"/>
          <p:nvPr/>
        </p:nvSpPr>
        <p:spPr>
          <a:xfrm>
            <a:off x="10728655" y="6446520"/>
            <a:ext cx="914400" cy="228600"/>
          </a:xfrm>
          <a:prstGeom prst="rect">
            <a:avLst/>
          </a:prstGeom>
          <a:noFill/>
        </p:spPr>
        <p:txBody>
          <a:bodyPr wrap="square" lIns="0" rIns="0" tIns="0" bIns="0" anchor="t">
            <a:spAutoFit/>
          </a:bodyPr>
          <a:lstStyle/>
          <a:p>
            <a:pPr algn="r">
              <a:spcAft>
                <a:spcPts val="600"/>
              </a:spcAft>
            </a:pPr>
            <a:r>
              <a:rPr sz="1000" b="0" i="0">
                <a:solidFill>
                  <a:srgbClr val="7A928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B0A"/>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lIns="0" rIns="0" tIns="0" bIns="0" anchor="t">
            <a:spAutoFit/>
          </a:bodyPr>
          <a:lstStyle/>
          <a:p>
            <a:pPr algn="l">
              <a:spcAft>
                <a:spcPts val="600"/>
              </a:spcAft>
            </a:pPr>
            <a:r>
              <a:rPr sz="1200" b="1" i="0">
                <a:solidFill>
                  <a:srgbClr val="10B981"/>
                </a:solidFill>
                <a:latin typeface="Calibri"/>
              </a:rPr>
              <a:t>BEST USE OF SOLANA</a:t>
            </a:r>
          </a:p>
        </p:txBody>
      </p:sp>
      <p:sp>
        <p:nvSpPr>
          <p:cNvPr id="3" name="Title"/>
          <p:cNvSpPr txBox="1"/>
          <p:nvPr/>
        </p:nvSpPr>
        <p:spPr>
          <a:xfrm>
            <a:off x="548640" y="685800"/>
            <a:ext cx="11094415" cy="822960"/>
          </a:xfrm>
          <a:prstGeom prst="rect">
            <a:avLst/>
          </a:prstGeom>
          <a:noFill/>
        </p:spPr>
        <p:txBody>
          <a:bodyPr wrap="square" lIns="0" rIns="0" tIns="0" bIns="0" anchor="t">
            <a:spAutoFit/>
          </a:bodyPr>
          <a:lstStyle/>
          <a:p>
            <a:pPr algn="l">
              <a:spcAft>
                <a:spcPts val="600"/>
              </a:spcAft>
            </a:pPr>
            <a:r>
              <a:rPr sz="3200" b="1" i="0">
                <a:solidFill>
                  <a:srgbClr val="E9F3EF"/>
                </a:solidFill>
                <a:latin typeface="Calibri"/>
              </a:rPr>
              <a:t>Every note is a BPMN workflow on one Solana program</a:t>
            </a:r>
          </a:p>
        </p:txBody>
      </p:sp>
      <p:sp>
        <p:nvSpPr>
          <p:cNvPr id="4" name="Rounded Rectangle 3"/>
          <p:cNvSpPr/>
          <p:nvPr/>
        </p:nvSpPr>
        <p:spPr>
          <a:xfrm>
            <a:off x="548640" y="1828800"/>
            <a:ext cx="3520440" cy="160020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60" y="2157984"/>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57400"/>
            <a:ext cx="2743200" cy="36576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State machine</a:t>
            </a:r>
          </a:p>
        </p:txBody>
      </p:sp>
      <p:sp>
        <p:nvSpPr>
          <p:cNvPr id="7" name="TextBox 6"/>
          <p:cNvSpPr txBox="1"/>
          <p:nvPr/>
        </p:nvSpPr>
        <p:spPr>
          <a:xfrm>
            <a:off x="822960" y="2487168"/>
            <a:ext cx="2971800" cy="868680"/>
          </a:xfrm>
          <a:prstGeom prst="rect">
            <a:avLst/>
          </a:prstGeom>
          <a:noFill/>
        </p:spPr>
        <p:txBody>
          <a:bodyPr wrap="square" lIns="0" rIns="0" tIns="0" bIns="0" anchor="t">
            <a:spAutoFit/>
          </a:bodyPr>
          <a:lstStyle/>
          <a:p>
            <a:pPr algn="l">
              <a:spcAft>
                <a:spcPts val="600"/>
              </a:spcAft>
            </a:pPr>
            <a:r>
              <a:rPr sz="1400" b="0" i="0">
                <a:solidFill>
                  <a:srgbClr val="B4C7C0"/>
                </a:solidFill>
                <a:latin typeface="Calibri"/>
              </a:rPr>
              <a:t>Token multiset; gateways on price predicates (min / max for worst-of); fork / join</a:t>
            </a:r>
          </a:p>
        </p:txBody>
      </p:sp>
      <p:sp>
        <p:nvSpPr>
          <p:cNvPr id="8" name="Rounded Rectangle 7"/>
          <p:cNvSpPr/>
          <p:nvPr/>
        </p:nvSpPr>
        <p:spPr>
          <a:xfrm>
            <a:off x="4343400" y="1828800"/>
            <a:ext cx="3520440" cy="160020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617720" y="2157984"/>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92040" y="2057400"/>
            <a:ext cx="2743200" cy="36576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Time and roles</a:t>
            </a:r>
          </a:p>
        </p:txBody>
      </p:sp>
      <p:sp>
        <p:nvSpPr>
          <p:cNvPr id="11" name="TextBox 10"/>
          <p:cNvSpPr txBox="1"/>
          <p:nvPr/>
        </p:nvSpPr>
        <p:spPr>
          <a:xfrm>
            <a:off x="4617720" y="2487168"/>
            <a:ext cx="2971800" cy="868680"/>
          </a:xfrm>
          <a:prstGeom prst="rect">
            <a:avLst/>
          </a:prstGeom>
          <a:noFill/>
        </p:spPr>
        <p:txBody>
          <a:bodyPr wrap="square" lIns="0" rIns="0" tIns="0" bIns="0" anchor="t">
            <a:spAutoFit/>
          </a:bodyPr>
          <a:lstStyle/>
          <a:p>
            <a:pPr algn="l">
              <a:spcAft>
                <a:spcPts val="600"/>
              </a:spcAft>
            </a:pPr>
            <a:r>
              <a:rPr sz="1400" b="0" i="0">
                <a:solidFill>
                  <a:srgbClr val="B4C7C0"/>
                </a:solidFill>
                <a:latin typeface="Calibri"/>
              </a:rPr>
              <a:t>Timers on per-issuance dates, open roles, repeatable subscription windows</a:t>
            </a:r>
          </a:p>
        </p:txBody>
      </p:sp>
      <p:sp>
        <p:nvSpPr>
          <p:cNvPr id="12" name="Rounded Rectangle 11"/>
          <p:cNvSpPr/>
          <p:nvPr/>
        </p:nvSpPr>
        <p:spPr>
          <a:xfrm>
            <a:off x="8138160" y="1828800"/>
            <a:ext cx="3520440" cy="160020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412480" y="2157984"/>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0" y="2057400"/>
            <a:ext cx="2743200" cy="36576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Holdings and DvP</a:t>
            </a:r>
          </a:p>
        </p:txBody>
      </p:sp>
      <p:sp>
        <p:nvSpPr>
          <p:cNvPr id="15" name="TextBox 14"/>
          <p:cNvSpPr txBox="1"/>
          <p:nvPr/>
        </p:nvSpPr>
        <p:spPr>
          <a:xfrm>
            <a:off x="8412480" y="2487168"/>
            <a:ext cx="2971800" cy="868680"/>
          </a:xfrm>
          <a:prstGeom prst="rect">
            <a:avLst/>
          </a:prstGeom>
          <a:noFill/>
        </p:spPr>
        <p:txBody>
          <a:bodyPr wrap="square" lIns="0" rIns="0" tIns="0" bIns="0" anchor="t">
            <a:spAutoFit/>
          </a:bodyPr>
          <a:lstStyle/>
          <a:p>
            <a:pPr algn="l">
              <a:spcAft>
                <a:spcPts val="600"/>
              </a:spcAft>
            </a:pPr>
            <a:r>
              <a:rPr sz="1400" b="0" i="0">
                <a:solidFill>
                  <a:srgbClr val="B4C7C0"/>
                </a:solidFill>
                <a:latin typeface="Calibri"/>
              </a:rPr>
              <a:t>Internal holdings ledger, atomic USDC-for-note swap, transfers in whole or in part</a:t>
            </a:r>
          </a:p>
        </p:txBody>
      </p:sp>
      <p:sp>
        <p:nvSpPr>
          <p:cNvPr id="16" name="Rounded Rectangle 15"/>
          <p:cNvSpPr/>
          <p:nvPr/>
        </p:nvSpPr>
        <p:spPr>
          <a:xfrm>
            <a:off x="548640" y="3703320"/>
            <a:ext cx="3520440" cy="160020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22960" y="4032504"/>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3931920"/>
            <a:ext cx="2743200" cy="36576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Distribution</a:t>
            </a:r>
          </a:p>
        </p:txBody>
      </p:sp>
      <p:sp>
        <p:nvSpPr>
          <p:cNvPr id="19" name="TextBox 18"/>
          <p:cNvSpPr txBox="1"/>
          <p:nvPr/>
        </p:nvSpPr>
        <p:spPr>
          <a:xfrm>
            <a:off x="822960" y="4361688"/>
            <a:ext cx="2971800" cy="868680"/>
          </a:xfrm>
          <a:prstGeom prst="rect">
            <a:avLst/>
          </a:prstGeom>
          <a:noFill/>
        </p:spPr>
        <p:txBody>
          <a:bodyPr wrap="square" lIns="0" rIns="0" tIns="0" bIns="0" anchor="t">
            <a:spAutoFit/>
          </a:bodyPr>
          <a:lstStyle/>
          <a:p>
            <a:pPr algn="l">
              <a:spcAft>
                <a:spcPts val="600"/>
              </a:spcAft>
            </a:pPr>
            <a:r>
              <a:rPr sz="1400" b="0" i="0">
                <a:solidFill>
                  <a:srgbClr val="B4C7C0"/>
                </a:solidFill>
                <a:latin typeface="Calibri"/>
              </a:rPr>
              <a:t>Pays every holder in cash or the underlying's token, from a token vault per issuance</a:t>
            </a:r>
          </a:p>
        </p:txBody>
      </p:sp>
      <p:sp>
        <p:nvSpPr>
          <p:cNvPr id="20" name="Rounded Rectangle 19"/>
          <p:cNvSpPr/>
          <p:nvPr/>
        </p:nvSpPr>
        <p:spPr>
          <a:xfrm>
            <a:off x="4343400" y="3703320"/>
            <a:ext cx="3520440" cy="160020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617720" y="4032504"/>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92040" y="3931920"/>
            <a:ext cx="2743200" cy="36576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CCIP native</a:t>
            </a:r>
          </a:p>
        </p:txBody>
      </p:sp>
      <p:sp>
        <p:nvSpPr>
          <p:cNvPr id="23" name="TextBox 22"/>
          <p:cNvSpPr txBox="1"/>
          <p:nvPr/>
        </p:nvSpPr>
        <p:spPr>
          <a:xfrm>
            <a:off x="4617720" y="4361688"/>
            <a:ext cx="2971800" cy="868680"/>
          </a:xfrm>
          <a:prstGeom prst="rect">
            <a:avLst/>
          </a:prstGeom>
          <a:noFill/>
        </p:spPr>
        <p:txBody>
          <a:bodyPr wrap="square" lIns="0" rIns="0" tIns="0" bIns="0" anchor="t">
            <a:spAutoFit/>
          </a:bodyPr>
          <a:lstStyle/>
          <a:p>
            <a:pPr algn="l">
              <a:spcAft>
                <a:spcPts val="600"/>
              </a:spcAft>
            </a:pPr>
            <a:r>
              <a:rPr sz="1400" b="0" i="0">
                <a:solidFill>
                  <a:srgbClr val="B4C7C0"/>
                </a:solidFill>
                <a:latin typeface="Calibri"/>
              </a:rPr>
              <a:t>A CCIP receiver and sender: subscribe in with ccip_receive, pay out with ccip_send</a:t>
            </a:r>
          </a:p>
        </p:txBody>
      </p:sp>
      <p:sp>
        <p:nvSpPr>
          <p:cNvPr id="24" name="Rounded Rectangle 23"/>
          <p:cNvSpPr/>
          <p:nvPr/>
        </p:nvSpPr>
        <p:spPr>
          <a:xfrm>
            <a:off x="8138160" y="3703320"/>
            <a:ext cx="3520440" cy="160020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412480" y="4032504"/>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0" y="3931920"/>
            <a:ext cx="2743200" cy="36576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Fits the runtime</a:t>
            </a:r>
          </a:p>
        </p:txBody>
      </p:sp>
      <p:sp>
        <p:nvSpPr>
          <p:cNvPr id="27" name="TextBox 26"/>
          <p:cNvSpPr txBox="1"/>
          <p:nvPr/>
        </p:nvSpPr>
        <p:spPr>
          <a:xfrm>
            <a:off x="8412480" y="4361688"/>
            <a:ext cx="2971800" cy="868680"/>
          </a:xfrm>
          <a:prstGeom prst="rect">
            <a:avLst/>
          </a:prstGeom>
          <a:noFill/>
        </p:spPr>
        <p:txBody>
          <a:bodyPr wrap="square" lIns="0" rIns="0" tIns="0" bIns="0" anchor="t">
            <a:spAutoFit/>
          </a:bodyPr>
          <a:lstStyle/>
          <a:p>
            <a:pPr algn="l">
              <a:spcAft>
                <a:spcPts val="600"/>
              </a:spcAft>
            </a:pPr>
            <a:r>
              <a:rPr sz="1400" b="0" i="0">
                <a:solidFill>
                  <a:srgbClr val="B4C7C0"/>
                </a:solidFill>
                <a:latin typeface="Calibri"/>
              </a:rPr>
              <a:t>Own heap allocator so large definitions fit Solana's 32 KiB heap</a:t>
            </a:r>
          </a:p>
        </p:txBody>
      </p:sp>
      <p:sp>
        <p:nvSpPr>
          <p:cNvPr id="28" name="TextBox 27"/>
          <p:cNvSpPr txBox="1"/>
          <p:nvPr/>
        </p:nvSpPr>
        <p:spPr>
          <a:xfrm>
            <a:off x="548640" y="5623560"/>
            <a:ext cx="11094415" cy="365760"/>
          </a:xfrm>
          <a:prstGeom prst="rect">
            <a:avLst/>
          </a:prstGeom>
          <a:noFill/>
        </p:spPr>
        <p:txBody>
          <a:bodyPr wrap="square" lIns="0" rIns="0" tIns="0" bIns="0" anchor="t">
            <a:spAutoFit/>
          </a:bodyPr>
          <a:lstStyle/>
          <a:p>
            <a:pPr algn="l">
              <a:spcAft>
                <a:spcPts val="600"/>
              </a:spcAft>
            </a:pPr>
            <a:r>
              <a:rPr sz="1300" b="1" i="0">
                <a:solidFill>
                  <a:srgbClr val="E9F3EF"/>
                </a:solidFill>
                <a:latin typeface="Calibri"/>
              </a:rPr>
              <a:t>flow_engine</a:t>
            </a:r>
            <a:r>
              <a:rPr sz="1300" b="0" i="0">
                <a:solidFill>
                  <a:srgbClr val="7A928A"/>
                </a:solidFill>
                <a:latin typeface="Calibri"/>
              </a:rPr>
              <a:t>  ·  Anchor 0.31.1  ·  devnet 9a5xpgRgK7NQMVtYvLuVq1XooK3Ca4CrKVkFEnVRGaHx</a:t>
            </a:r>
          </a:p>
        </p:txBody>
      </p:sp>
      <p:sp>
        <p:nvSpPr>
          <p:cNvPr id="29" name="TextBox 28"/>
          <p:cNvSpPr txBox="1"/>
          <p:nvPr/>
        </p:nvSpPr>
        <p:spPr>
          <a:xfrm>
            <a:off x="548640" y="6446520"/>
            <a:ext cx="5486400" cy="228600"/>
          </a:xfrm>
          <a:prstGeom prst="rect">
            <a:avLst/>
          </a:prstGeom>
          <a:noFill/>
        </p:spPr>
        <p:txBody>
          <a:bodyPr wrap="square" lIns="0" rIns="0" tIns="0" bIns="0" anchor="t">
            <a:spAutoFit/>
          </a:bodyPr>
          <a:lstStyle/>
          <a:p>
            <a:pPr algn="l">
              <a:spcAft>
                <a:spcPts val="600"/>
              </a:spcAft>
            </a:pPr>
            <a:r>
              <a:rPr sz="1000" b="0" i="0">
                <a:solidFill>
                  <a:srgbClr val="7A928A"/>
                </a:solidFill>
                <a:latin typeface="Calibri"/>
              </a:rPr>
              <a:t>StratosNotes · sp.stratoslab.app</a:t>
            </a:r>
          </a:p>
        </p:txBody>
      </p:sp>
      <p:sp>
        <p:nvSpPr>
          <p:cNvPr id="30" name="TextBox 29"/>
          <p:cNvSpPr txBox="1"/>
          <p:nvPr/>
        </p:nvSpPr>
        <p:spPr>
          <a:xfrm>
            <a:off x="10728655" y="6446520"/>
            <a:ext cx="914400" cy="228600"/>
          </a:xfrm>
          <a:prstGeom prst="rect">
            <a:avLst/>
          </a:prstGeom>
          <a:noFill/>
        </p:spPr>
        <p:txBody>
          <a:bodyPr wrap="square" lIns="0" rIns="0" tIns="0" bIns="0" anchor="t">
            <a:spAutoFit/>
          </a:bodyPr>
          <a:lstStyle/>
          <a:p>
            <a:pPr algn="r">
              <a:spcAft>
                <a:spcPts val="600"/>
              </a:spcAft>
            </a:pPr>
            <a:r>
              <a:rPr sz="1000" b="0" i="0">
                <a:solidFill>
                  <a:srgbClr val="7A928A"/>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B0A"/>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lIns="0" rIns="0" tIns="0" bIns="0" anchor="t">
            <a:spAutoFit/>
          </a:bodyPr>
          <a:lstStyle/>
          <a:p>
            <a:pPr algn="l">
              <a:spcAft>
                <a:spcPts val="600"/>
              </a:spcAft>
            </a:pPr>
            <a:r>
              <a:rPr sz="1200" b="1" i="0">
                <a:solidFill>
                  <a:srgbClr val="10B981"/>
                </a:solidFill>
                <a:latin typeface="Calibri"/>
              </a:rPr>
              <a:t>BEST WORKFLOW WITH CRE</a:t>
            </a:r>
          </a:p>
        </p:txBody>
      </p:sp>
      <p:sp>
        <p:nvSpPr>
          <p:cNvPr id="3" name="Title"/>
          <p:cNvSpPr txBox="1"/>
          <p:nvPr/>
        </p:nvSpPr>
        <p:spPr>
          <a:xfrm>
            <a:off x="548640" y="685800"/>
            <a:ext cx="11094415" cy="822960"/>
          </a:xfrm>
          <a:prstGeom prst="rect">
            <a:avLst/>
          </a:prstGeom>
          <a:noFill/>
        </p:spPr>
        <p:txBody>
          <a:bodyPr wrap="square" lIns="0" rIns="0" tIns="0" bIns="0" anchor="t">
            <a:spAutoFit/>
          </a:bodyPr>
          <a:lstStyle/>
          <a:p>
            <a:pPr algn="l">
              <a:spcAft>
                <a:spcPts val="600"/>
              </a:spcAft>
            </a:pPr>
            <a:r>
              <a:rPr sz="3200" b="1" i="0">
                <a:solidFill>
                  <a:srgbClr val="E9F3EF"/>
                </a:solidFill>
                <a:latin typeface="Calibri"/>
              </a:rPr>
              <a:t>Chainlink CRE is the calculation and paying agent</a:t>
            </a:r>
          </a:p>
        </p:txBody>
      </p:sp>
      <p:sp>
        <p:nvSpPr>
          <p:cNvPr id="4" name="Oval 3"/>
          <p:cNvSpPr/>
          <p:nvPr/>
        </p:nvSpPr>
        <p:spPr>
          <a:xfrm>
            <a:off x="548640" y="1865376"/>
            <a:ext cx="146304" cy="146304"/>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83080"/>
            <a:ext cx="4572000" cy="914400"/>
          </a:xfrm>
          <a:prstGeom prst="rect">
            <a:avLst/>
          </a:prstGeom>
          <a:noFill/>
        </p:spPr>
        <p:txBody>
          <a:bodyPr wrap="square" lIns="0" rIns="0" tIns="0" bIns="0" anchor="t">
            <a:spAutoFit/>
          </a:bodyPr>
          <a:lstStyle/>
          <a:p>
            <a:pPr algn="l">
              <a:spcAft>
                <a:spcPts val="0"/>
              </a:spcAft>
            </a:pPr>
            <a:r>
              <a:rPr sz="1700" b="1" i="0">
                <a:solidFill>
                  <a:srgbClr val="E9F3EF"/>
                </a:solidFill>
                <a:latin typeface="Calibri"/>
              </a:rPr>
              <a:t>Reads Solana</a:t>
            </a:r>
          </a:p>
          <a:p>
            <a:pPr algn="l">
              <a:spcAft>
                <a:spcPts val="0"/>
              </a:spcAft>
            </a:pPr>
            <a:r>
              <a:rPr sz="1300" b="0" i="0">
                <a:solidFill>
                  <a:srgbClr val="B4C7C0"/>
                </a:solidFill>
                <a:latin typeface="Calibri"/>
              </a:rPr>
              <a:t>Every DON node reads finalized engine state; the DON agrees on what is due</a:t>
            </a:r>
          </a:p>
        </p:txBody>
      </p:sp>
      <p:sp>
        <p:nvSpPr>
          <p:cNvPr id="6" name="Oval 5"/>
          <p:cNvSpPr/>
          <p:nvPr/>
        </p:nvSpPr>
        <p:spPr>
          <a:xfrm>
            <a:off x="548640" y="2852928"/>
            <a:ext cx="146304" cy="146304"/>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770632"/>
            <a:ext cx="4572000" cy="914400"/>
          </a:xfrm>
          <a:prstGeom prst="rect">
            <a:avLst/>
          </a:prstGeom>
          <a:noFill/>
        </p:spPr>
        <p:txBody>
          <a:bodyPr wrap="square" lIns="0" rIns="0" tIns="0" bIns="0" anchor="t">
            <a:spAutoFit/>
          </a:bodyPr>
          <a:lstStyle/>
          <a:p>
            <a:pPr algn="l">
              <a:spcAft>
                <a:spcPts val="0"/>
              </a:spcAft>
            </a:pPr>
            <a:r>
              <a:rPr sz="1700" b="1" i="0">
                <a:solidFill>
                  <a:srgbClr val="E9F3EF"/>
                </a:solidFill>
                <a:latin typeface="Calibri"/>
              </a:rPr>
              <a:t>Reads prices</a:t>
            </a:r>
          </a:p>
          <a:p>
            <a:pPr algn="l">
              <a:spcAft>
                <a:spcPts val="0"/>
              </a:spcAft>
            </a:pPr>
            <a:r>
              <a:rPr sz="1300" b="0" i="0">
                <a:solidFill>
                  <a:srgbClr val="B4C7C0"/>
                </a:solidFill>
                <a:latin typeface="Calibri"/>
              </a:rPr>
              <a:t>Chainlink feed of every underlying at the finalized Ethereum block, staleness-checked</a:t>
            </a:r>
          </a:p>
        </p:txBody>
      </p:sp>
      <p:sp>
        <p:nvSpPr>
          <p:cNvPr id="8" name="Oval 7"/>
          <p:cNvSpPr/>
          <p:nvPr/>
        </p:nvSpPr>
        <p:spPr>
          <a:xfrm>
            <a:off x="548640" y="3840480"/>
            <a:ext cx="146304" cy="146304"/>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758184"/>
            <a:ext cx="4572000" cy="914400"/>
          </a:xfrm>
          <a:prstGeom prst="rect">
            <a:avLst/>
          </a:prstGeom>
          <a:noFill/>
        </p:spPr>
        <p:txBody>
          <a:bodyPr wrap="square" lIns="0" rIns="0" tIns="0" bIns="0" anchor="t">
            <a:spAutoFit/>
          </a:bodyPr>
          <a:lstStyle/>
          <a:p>
            <a:pPr algn="l">
              <a:spcAft>
                <a:spcPts val="0"/>
              </a:spcAft>
            </a:pPr>
            <a:r>
              <a:rPr sz="1700" b="1" i="0">
                <a:solidFill>
                  <a:srgbClr val="E9F3EF"/>
                </a:solidFill>
                <a:latin typeface="Calibri"/>
              </a:rPr>
              <a:t>Settles</a:t>
            </a:r>
          </a:p>
          <a:p>
            <a:pPr algn="l">
              <a:spcAft>
                <a:spcPts val="0"/>
              </a:spcAft>
            </a:pPr>
            <a:r>
              <a:rPr sz="1300" b="0" i="0">
                <a:solidFill>
                  <a:srgbClr val="B4C7C0"/>
                </a:solidFill>
                <a:latin typeface="Calibri"/>
              </a:rPr>
              <a:t>One DON-signed report through the forwarder runs an observation and everything after it</a:t>
            </a:r>
          </a:p>
        </p:txBody>
      </p:sp>
      <p:sp>
        <p:nvSpPr>
          <p:cNvPr id="10" name="Oval 9"/>
          <p:cNvSpPr/>
          <p:nvPr/>
        </p:nvSpPr>
        <p:spPr>
          <a:xfrm>
            <a:off x="548640" y="4828032"/>
            <a:ext cx="146304" cy="146304"/>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745736"/>
            <a:ext cx="4572000" cy="914400"/>
          </a:xfrm>
          <a:prstGeom prst="rect">
            <a:avLst/>
          </a:prstGeom>
          <a:noFill/>
        </p:spPr>
        <p:txBody>
          <a:bodyPr wrap="square" lIns="0" rIns="0" tIns="0" bIns="0" anchor="t">
            <a:spAutoFit/>
          </a:bodyPr>
          <a:lstStyle/>
          <a:p>
            <a:pPr algn="l">
              <a:spcAft>
                <a:spcPts val="0"/>
              </a:spcAft>
            </a:pPr>
            <a:r>
              <a:rPr sz="1700" b="1" i="0">
                <a:solidFill>
                  <a:srgbClr val="E9F3EF"/>
                </a:solidFill>
                <a:latin typeface="Calibri"/>
              </a:rPr>
              <a:t>Pays Ethereum</a:t>
            </a:r>
          </a:p>
          <a:p>
            <a:pPr algn="l">
              <a:spcAft>
                <a:spcPts val="0"/>
              </a:spcAft>
            </a:pPr>
            <a:r>
              <a:rPr sz="1300" b="0" i="0">
                <a:solidFill>
                  <a:srgbClr val="B4C7C0"/>
                </a:solidFill>
                <a:latin typeface="Calibri"/>
              </a:rPr>
              <a:t>Payout reports lock each Sepolia holder's coupon, redemption or token for CCIP</a:t>
            </a:r>
          </a:p>
        </p:txBody>
      </p:sp>
      <p:graphicFrame>
        <p:nvGraphicFramePr>
          <p:cNvPr id="12" name="Chart 11"/>
          <p:cNvGraphicFramePr>
            <a:graphicFrameLocks noGrp="1"/>
          </p:cNvGraphicFramePr>
          <p:nvPr/>
        </p:nvGraphicFramePr>
        <p:xfrm>
          <a:off x="5852160" y="1691640"/>
          <a:ext cx="5788152" cy="3931920"/>
        </p:xfrm>
        <a:graphic>
          <a:graphicData uri="http://schemas.openxmlformats.org/drawingml/2006/chart">
            <c:chart xmlns:c="http://schemas.openxmlformats.org/drawingml/2006/chart" r:id="rId3"/>
          </a:graphicData>
        </a:graphic>
      </p:graphicFrame>
      <p:sp>
        <p:nvSpPr>
          <p:cNvPr id="13" name="TextBox 12"/>
          <p:cNvSpPr txBox="1"/>
          <p:nvPr/>
        </p:nvSpPr>
        <p:spPr>
          <a:xfrm>
            <a:off x="5852160" y="5669280"/>
            <a:ext cx="5788152" cy="274320"/>
          </a:xfrm>
          <a:prstGeom prst="rect">
            <a:avLst/>
          </a:prstGeom>
          <a:noFill/>
        </p:spPr>
        <p:txBody>
          <a:bodyPr wrap="square" lIns="0" rIns="0" tIns="0" bIns="0" anchor="t">
            <a:spAutoFit/>
          </a:bodyPr>
          <a:lstStyle/>
          <a:p>
            <a:pPr algn="ctr">
              <a:spcAft>
                <a:spcPts val="600"/>
              </a:spcAft>
            </a:pPr>
            <a:r>
              <a:rPr sz="1200" b="1" i="0">
                <a:solidFill>
                  <a:srgbClr val="10B981"/>
                </a:solidFill>
                <a:latin typeface="Calibri"/>
              </a:rPr>
              <a:t>Phoenix on ETH</a:t>
            </a:r>
            <a:r>
              <a:rPr sz="1200" b="0" i="0">
                <a:solidFill>
                  <a:srgbClr val="7A928A"/>
                </a:solidFill>
                <a:latin typeface="Calibri"/>
              </a:rPr>
              <a:t>   ·   </a:t>
            </a:r>
            <a:r>
              <a:rPr sz="1200" b="1" i="0">
                <a:solidFill>
                  <a:srgbClr val="2DD4BF"/>
                </a:solidFill>
                <a:latin typeface="Calibri"/>
              </a:rPr>
              <a:t>Worst-of ETH, BTC, SOL</a:t>
            </a:r>
          </a:p>
        </p:txBody>
      </p:sp>
      <p:sp>
        <p:nvSpPr>
          <p:cNvPr id="14" name="TextBox 13"/>
          <p:cNvSpPr txBox="1"/>
          <p:nvPr/>
        </p:nvSpPr>
        <p:spPr>
          <a:xfrm>
            <a:off x="548640" y="6446520"/>
            <a:ext cx="5486400" cy="228600"/>
          </a:xfrm>
          <a:prstGeom prst="rect">
            <a:avLst/>
          </a:prstGeom>
          <a:noFill/>
        </p:spPr>
        <p:txBody>
          <a:bodyPr wrap="square" lIns="0" rIns="0" tIns="0" bIns="0" anchor="t">
            <a:spAutoFit/>
          </a:bodyPr>
          <a:lstStyle/>
          <a:p>
            <a:pPr algn="l">
              <a:spcAft>
                <a:spcPts val="600"/>
              </a:spcAft>
            </a:pPr>
            <a:r>
              <a:rPr sz="1000" b="0" i="0">
                <a:solidFill>
                  <a:srgbClr val="7A928A"/>
                </a:solidFill>
                <a:latin typeface="Calibri"/>
              </a:rPr>
              <a:t>StratosNotes · sp.stratoslab.app</a:t>
            </a:r>
          </a:p>
        </p:txBody>
      </p:sp>
      <p:sp>
        <p:nvSpPr>
          <p:cNvPr id="15" name="TextBox 14"/>
          <p:cNvSpPr txBox="1"/>
          <p:nvPr/>
        </p:nvSpPr>
        <p:spPr>
          <a:xfrm>
            <a:off x="10728655" y="6446520"/>
            <a:ext cx="914400" cy="228600"/>
          </a:xfrm>
          <a:prstGeom prst="rect">
            <a:avLst/>
          </a:prstGeom>
          <a:noFill/>
        </p:spPr>
        <p:txBody>
          <a:bodyPr wrap="square" lIns="0" rIns="0" tIns="0" bIns="0" anchor="t">
            <a:spAutoFit/>
          </a:bodyPr>
          <a:lstStyle/>
          <a:p>
            <a:pPr algn="r">
              <a:spcAft>
                <a:spcPts val="600"/>
              </a:spcAft>
            </a:pPr>
            <a:r>
              <a:rPr sz="1000" b="0" i="0">
                <a:solidFill>
                  <a:srgbClr val="7A928A"/>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B0A"/>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lIns="0" rIns="0" tIns="0" bIns="0" anchor="t">
            <a:spAutoFit/>
          </a:bodyPr>
          <a:lstStyle/>
          <a:p>
            <a:pPr algn="l">
              <a:spcAft>
                <a:spcPts val="600"/>
              </a:spcAft>
            </a:pPr>
            <a:r>
              <a:rPr sz="1200" b="1" i="0">
                <a:solidFill>
                  <a:srgbClr val="10B981"/>
                </a:solidFill>
                <a:latin typeface="Calibri"/>
              </a:rPr>
              <a:t>CHAINLINK CCIP</a:t>
            </a:r>
          </a:p>
        </p:txBody>
      </p:sp>
      <p:sp>
        <p:nvSpPr>
          <p:cNvPr id="3" name="Title"/>
          <p:cNvSpPr txBox="1"/>
          <p:nvPr/>
        </p:nvSpPr>
        <p:spPr>
          <a:xfrm>
            <a:off x="548640" y="685800"/>
            <a:ext cx="11094415" cy="822960"/>
          </a:xfrm>
          <a:prstGeom prst="rect">
            <a:avLst/>
          </a:prstGeom>
          <a:noFill/>
        </p:spPr>
        <p:txBody>
          <a:bodyPr wrap="square" lIns="0" rIns="0" tIns="0" bIns="0" anchor="t">
            <a:spAutoFit/>
          </a:bodyPr>
          <a:lstStyle/>
          <a:p>
            <a:pPr algn="l">
              <a:spcAft>
                <a:spcPts val="600"/>
              </a:spcAft>
            </a:pPr>
            <a:r>
              <a:rPr sz="3200" b="1" i="0">
                <a:solidFill>
                  <a:srgbClr val="E9F3EF"/>
                </a:solidFill>
                <a:latin typeface="Calibri"/>
              </a:rPr>
              <a:t>Subscribe and get paid on Solana or Ethereum</a:t>
            </a:r>
          </a:p>
        </p:txBody>
      </p:sp>
      <p:sp>
        <p:nvSpPr>
          <p:cNvPr id="4" name="Rounded Rectangle 3"/>
          <p:cNvSpPr/>
          <p:nvPr/>
        </p:nvSpPr>
        <p:spPr>
          <a:xfrm>
            <a:off x="548640" y="1783080"/>
            <a:ext cx="3515258" cy="288036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965960"/>
            <a:ext cx="2966618" cy="868680"/>
          </a:xfrm>
          <a:prstGeom prst="rect">
            <a:avLst/>
          </a:prstGeom>
          <a:noFill/>
        </p:spPr>
        <p:txBody>
          <a:bodyPr wrap="square" lIns="0" rIns="0" tIns="0" bIns="0" anchor="t">
            <a:spAutoFit/>
          </a:bodyPr>
          <a:lstStyle/>
          <a:p>
            <a:pPr algn="l">
              <a:spcAft>
                <a:spcPts val="600"/>
              </a:spcAft>
            </a:pPr>
            <a:r>
              <a:rPr sz="4600" b="1" i="0">
                <a:solidFill>
                  <a:srgbClr val="A78BFA"/>
                </a:solidFill>
                <a:latin typeface="Calibri"/>
              </a:rPr>
              <a:t>306</a:t>
            </a:r>
            <a:r>
              <a:rPr sz="2000" b="0" i="0">
                <a:solidFill>
                  <a:srgbClr val="B4C7C0"/>
                </a:solidFill>
                <a:latin typeface="Calibri"/>
              </a:rPr>
              <a:t>  tUSD</a:t>
            </a:r>
          </a:p>
        </p:txBody>
      </p:sp>
      <p:sp>
        <p:nvSpPr>
          <p:cNvPr id="6" name="TextBox 5"/>
          <p:cNvSpPr txBox="1"/>
          <p:nvPr/>
        </p:nvSpPr>
        <p:spPr>
          <a:xfrm>
            <a:off x="822960" y="2880360"/>
            <a:ext cx="2966618" cy="365760"/>
          </a:xfrm>
          <a:prstGeom prst="rect">
            <a:avLst/>
          </a:prstGeom>
          <a:noFill/>
        </p:spPr>
        <p:txBody>
          <a:bodyPr wrap="square" lIns="0" rIns="0" tIns="0" bIns="0" anchor="t">
            <a:spAutoFit/>
          </a:bodyPr>
          <a:lstStyle/>
          <a:p>
            <a:pPr algn="l">
              <a:spcAft>
                <a:spcPts val="600"/>
              </a:spcAft>
            </a:pPr>
            <a:r>
              <a:rPr sz="1900" b="1" i="0">
                <a:solidFill>
                  <a:srgbClr val="E9F3EF"/>
                </a:solidFill>
                <a:latin typeface="Calibri"/>
              </a:rPr>
              <a:t>Subscribe in</a:t>
            </a:r>
          </a:p>
        </p:txBody>
      </p:sp>
      <p:sp>
        <p:nvSpPr>
          <p:cNvPr id="7" name="TextBox 6"/>
          <p:cNvSpPr txBox="1"/>
          <p:nvPr/>
        </p:nvSpPr>
        <p:spPr>
          <a:xfrm>
            <a:off x="822960" y="3291840"/>
            <a:ext cx="2966618" cy="822960"/>
          </a:xfrm>
          <a:prstGeom prst="rect">
            <a:avLst/>
          </a:prstGeom>
          <a:noFill/>
        </p:spPr>
        <p:txBody>
          <a:bodyPr wrap="square" lIns="0" rIns="0" tIns="0" bIns="0" anchor="t">
            <a:spAutoFit/>
          </a:bodyPr>
          <a:lstStyle/>
          <a:p>
            <a:pPr algn="l">
              <a:spcAft>
                <a:spcPts val="600"/>
              </a:spcAft>
            </a:pPr>
            <a:r>
              <a:rPr sz="1400" b="0" i="0">
                <a:solidFill>
                  <a:srgbClr val="B4C7C0"/>
                </a:solidFill>
                <a:latin typeface="Calibri"/>
              </a:rPr>
              <a:t>300 units bought from Sepolia; CRE autocalled; paid back over CCIP</a:t>
            </a:r>
          </a:p>
        </p:txBody>
      </p:sp>
      <p:sp>
        <p:nvSpPr>
          <p:cNvPr id="8" name="TextBox 7"/>
          <p:cNvSpPr txBox="1"/>
          <p:nvPr/>
        </p:nvSpPr>
        <p:spPr>
          <a:xfrm>
            <a:off x="822960" y="4206240"/>
            <a:ext cx="2966618" cy="320040"/>
          </a:xfrm>
          <a:prstGeom prst="rect">
            <a:avLst/>
          </a:prstGeom>
          <a:noFill/>
        </p:spPr>
        <p:txBody>
          <a:bodyPr wrap="square" lIns="0" rIns="0" tIns="0" bIns="0" anchor="t">
            <a:spAutoFit/>
          </a:bodyPr>
          <a:lstStyle/>
          <a:p>
            <a:pPr algn="l">
              <a:spcAft>
                <a:spcPts val="600"/>
              </a:spcAft>
            </a:pPr>
            <a:r>
              <a:rPr sz="1100" b="0" i="0">
                <a:solidFill>
                  <a:srgbClr val="7A928A"/>
                </a:solidFill>
                <a:latin typeface="Calibri"/>
              </a:rPr>
              <a:t>FCN on ETH · DFaUHwaG…</a:t>
            </a:r>
          </a:p>
        </p:txBody>
      </p:sp>
      <p:sp>
        <p:nvSpPr>
          <p:cNvPr id="9" name="Rounded Rectangle 8"/>
          <p:cNvSpPr/>
          <p:nvPr/>
        </p:nvSpPr>
        <p:spPr>
          <a:xfrm>
            <a:off x="4338218" y="1783080"/>
            <a:ext cx="3515258" cy="288036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12538" y="1965960"/>
            <a:ext cx="2966618" cy="868680"/>
          </a:xfrm>
          <a:prstGeom prst="rect">
            <a:avLst/>
          </a:prstGeom>
          <a:noFill/>
        </p:spPr>
        <p:txBody>
          <a:bodyPr wrap="square" lIns="0" rIns="0" tIns="0" bIns="0" anchor="t">
            <a:spAutoFit/>
          </a:bodyPr>
          <a:lstStyle/>
          <a:p>
            <a:pPr algn="l">
              <a:spcAft>
                <a:spcPts val="600"/>
              </a:spcAft>
            </a:pPr>
            <a:r>
              <a:rPr sz="4600" b="1" i="0">
                <a:solidFill>
                  <a:srgbClr val="A78BFA"/>
                </a:solidFill>
                <a:latin typeface="Calibri"/>
              </a:rPr>
              <a:t>110</a:t>
            </a:r>
            <a:r>
              <a:rPr sz="2000" b="0" i="0">
                <a:solidFill>
                  <a:srgbClr val="B4C7C0"/>
                </a:solidFill>
                <a:latin typeface="Calibri"/>
              </a:rPr>
              <a:t>  tUSD</a:t>
            </a:r>
          </a:p>
        </p:txBody>
      </p:sp>
      <p:sp>
        <p:nvSpPr>
          <p:cNvPr id="11" name="TextBox 10"/>
          <p:cNvSpPr txBox="1"/>
          <p:nvPr/>
        </p:nvSpPr>
        <p:spPr>
          <a:xfrm>
            <a:off x="4612538" y="2880360"/>
            <a:ext cx="2966618" cy="365760"/>
          </a:xfrm>
          <a:prstGeom prst="rect">
            <a:avLst/>
          </a:prstGeom>
          <a:noFill/>
        </p:spPr>
        <p:txBody>
          <a:bodyPr wrap="square" lIns="0" rIns="0" tIns="0" bIns="0" anchor="t">
            <a:spAutoFit/>
          </a:bodyPr>
          <a:lstStyle/>
          <a:p>
            <a:pPr algn="l">
              <a:spcAft>
                <a:spcPts val="600"/>
              </a:spcAft>
            </a:pPr>
            <a:r>
              <a:rPr sz="1900" b="1" i="0">
                <a:solidFill>
                  <a:srgbClr val="E9F3EF"/>
                </a:solidFill>
                <a:latin typeface="Calibri"/>
              </a:rPr>
              <a:t>Automatic payouts</a:t>
            </a:r>
          </a:p>
        </p:txBody>
      </p:sp>
      <p:sp>
        <p:nvSpPr>
          <p:cNvPr id="12" name="TextBox 11"/>
          <p:cNvSpPr txBox="1"/>
          <p:nvPr/>
        </p:nvSpPr>
        <p:spPr>
          <a:xfrm>
            <a:off x="4612538" y="3291840"/>
            <a:ext cx="2966618" cy="822960"/>
          </a:xfrm>
          <a:prstGeom prst="rect">
            <a:avLst/>
          </a:prstGeom>
          <a:noFill/>
        </p:spPr>
        <p:txBody>
          <a:bodyPr wrap="square" lIns="0" rIns="0" tIns="0" bIns="0" anchor="t">
            <a:spAutoFit/>
          </a:bodyPr>
          <a:lstStyle/>
          <a:p>
            <a:pPr algn="l">
              <a:spcAft>
                <a:spcPts val="600"/>
              </a:spcAft>
            </a:pPr>
            <a:r>
              <a:rPr sz="1400" b="0" i="0">
                <a:solidFill>
                  <a:srgbClr val="B4C7C0"/>
                </a:solidFill>
                <a:latin typeface="Calibri"/>
              </a:rPr>
              <a:t>Three coupons and the redemption, locked by CRE, sent by the relay</a:t>
            </a:r>
          </a:p>
        </p:txBody>
      </p:sp>
      <p:sp>
        <p:nvSpPr>
          <p:cNvPr id="13" name="TextBox 12"/>
          <p:cNvSpPr txBox="1"/>
          <p:nvPr/>
        </p:nvSpPr>
        <p:spPr>
          <a:xfrm>
            <a:off x="4612538" y="4206240"/>
            <a:ext cx="2966618" cy="320040"/>
          </a:xfrm>
          <a:prstGeom prst="rect">
            <a:avLst/>
          </a:prstGeom>
          <a:noFill/>
        </p:spPr>
        <p:txBody>
          <a:bodyPr wrap="square" lIns="0" rIns="0" tIns="0" bIns="0" anchor="t">
            <a:spAutoFit/>
          </a:bodyPr>
          <a:lstStyle/>
          <a:p>
            <a:pPr algn="l">
              <a:spcAft>
                <a:spcPts val="600"/>
              </a:spcAft>
            </a:pPr>
            <a:r>
              <a:rPr sz="1100" b="0" i="0">
                <a:solidFill>
                  <a:srgbClr val="7A928A"/>
                </a:solidFill>
                <a:latin typeface="Calibri"/>
              </a:rPr>
              <a:t>Phoenix · 8DtC17Ar…</a:t>
            </a:r>
          </a:p>
        </p:txBody>
      </p:sp>
      <p:sp>
        <p:nvSpPr>
          <p:cNvPr id="14" name="Rounded Rectangle 13"/>
          <p:cNvSpPr/>
          <p:nvPr/>
        </p:nvSpPr>
        <p:spPr>
          <a:xfrm>
            <a:off x="8127796" y="1783080"/>
            <a:ext cx="3515258" cy="288036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02116" y="1965960"/>
            <a:ext cx="2966618" cy="868680"/>
          </a:xfrm>
          <a:prstGeom prst="rect">
            <a:avLst/>
          </a:prstGeom>
          <a:noFill/>
        </p:spPr>
        <p:txBody>
          <a:bodyPr wrap="square" lIns="0" rIns="0" tIns="0" bIns="0" anchor="t">
            <a:spAutoFit/>
          </a:bodyPr>
          <a:lstStyle/>
          <a:p>
            <a:pPr algn="l">
              <a:spcAft>
                <a:spcPts val="600"/>
              </a:spcAft>
            </a:pPr>
            <a:r>
              <a:rPr sz="4600" b="1" i="0">
                <a:solidFill>
                  <a:srgbClr val="A78BFA"/>
                </a:solidFill>
                <a:latin typeface="Calibri"/>
              </a:rPr>
              <a:t>0.0382</a:t>
            </a:r>
            <a:r>
              <a:rPr sz="2000" b="0" i="0">
                <a:solidFill>
                  <a:srgbClr val="B4C7C0"/>
                </a:solidFill>
                <a:latin typeface="Calibri"/>
              </a:rPr>
              <a:t>  tETH</a:t>
            </a:r>
          </a:p>
        </p:txBody>
      </p:sp>
      <p:sp>
        <p:nvSpPr>
          <p:cNvPr id="16" name="TextBox 15"/>
          <p:cNvSpPr txBox="1"/>
          <p:nvPr/>
        </p:nvSpPr>
        <p:spPr>
          <a:xfrm>
            <a:off x="8402116" y="2880360"/>
            <a:ext cx="2966618" cy="365760"/>
          </a:xfrm>
          <a:prstGeom prst="rect">
            <a:avLst/>
          </a:prstGeom>
          <a:noFill/>
        </p:spPr>
        <p:txBody>
          <a:bodyPr wrap="square" lIns="0" rIns="0" tIns="0" bIns="0" anchor="t">
            <a:spAutoFit/>
          </a:bodyPr>
          <a:lstStyle/>
          <a:p>
            <a:pPr algn="l">
              <a:spcAft>
                <a:spcPts val="600"/>
              </a:spcAft>
            </a:pPr>
            <a:r>
              <a:rPr sz="1900" b="1" i="0">
                <a:solidFill>
                  <a:srgbClr val="E9F3EF"/>
                </a:solidFill>
                <a:latin typeface="Calibri"/>
              </a:rPr>
              <a:t>Physical delivery</a:t>
            </a:r>
          </a:p>
        </p:txBody>
      </p:sp>
      <p:sp>
        <p:nvSpPr>
          <p:cNvPr id="17" name="TextBox 16"/>
          <p:cNvSpPr txBox="1"/>
          <p:nvPr/>
        </p:nvSpPr>
        <p:spPr>
          <a:xfrm>
            <a:off x="8402116" y="3291840"/>
            <a:ext cx="2966618" cy="822960"/>
          </a:xfrm>
          <a:prstGeom prst="rect">
            <a:avLst/>
          </a:prstGeom>
          <a:noFill/>
        </p:spPr>
        <p:txBody>
          <a:bodyPr wrap="square" lIns="0" rIns="0" tIns="0" bIns="0" anchor="t">
            <a:spAutoFit/>
          </a:bodyPr>
          <a:lstStyle/>
          <a:p>
            <a:pPr algn="l">
              <a:spcAft>
                <a:spcPts val="600"/>
              </a:spcAft>
            </a:pPr>
            <a:r>
              <a:rPr sz="1400" b="0" i="0">
                <a:solidFill>
                  <a:srgbClr val="B4C7C0"/>
                </a:solidFill>
                <a:latin typeface="Calibri"/>
              </a:rPr>
              <a:t>0.03824647 tETH (100 ÷ 2,614.62 strike) plus 5 tUSD of coupons</a:t>
            </a:r>
          </a:p>
        </p:txBody>
      </p:sp>
      <p:sp>
        <p:nvSpPr>
          <p:cNvPr id="18" name="TextBox 17"/>
          <p:cNvSpPr txBox="1"/>
          <p:nvPr/>
        </p:nvSpPr>
        <p:spPr>
          <a:xfrm>
            <a:off x="8402116" y="4206240"/>
            <a:ext cx="2966618" cy="320040"/>
          </a:xfrm>
          <a:prstGeom prst="rect">
            <a:avLst/>
          </a:prstGeom>
          <a:noFill/>
        </p:spPr>
        <p:txBody>
          <a:bodyPr wrap="square" lIns="0" rIns="0" tIns="0" bIns="0" anchor="t">
            <a:spAutoFit/>
          </a:bodyPr>
          <a:lstStyle/>
          <a:p>
            <a:pPr algn="l">
              <a:spcAft>
                <a:spcPts val="600"/>
              </a:spcAft>
            </a:pPr>
            <a:r>
              <a:rPr sz="1100" b="0" i="0">
                <a:solidFill>
                  <a:srgbClr val="7A928A"/>
                </a:solidFill>
                <a:latin typeface="Calibri"/>
              </a:rPr>
              <a:t>Reverse convertible · CviXTYq7…</a:t>
            </a:r>
          </a:p>
        </p:txBody>
      </p:sp>
      <p:sp>
        <p:nvSpPr>
          <p:cNvPr id="19" name="TextBox 18"/>
          <p:cNvSpPr txBox="1"/>
          <p:nvPr/>
        </p:nvSpPr>
        <p:spPr>
          <a:xfrm>
            <a:off x="548640" y="4937760"/>
            <a:ext cx="3515258" cy="548640"/>
          </a:xfrm>
          <a:prstGeom prst="rect">
            <a:avLst/>
          </a:prstGeom>
          <a:noFill/>
        </p:spPr>
        <p:txBody>
          <a:bodyPr wrap="square" lIns="0" rIns="0" tIns="0" bIns="0" anchor="t">
            <a:spAutoFit/>
          </a:bodyPr>
          <a:lstStyle/>
          <a:p>
            <a:pPr algn="l">
              <a:spcAft>
                <a:spcPts val="600"/>
              </a:spcAft>
            </a:pPr>
            <a:r>
              <a:rPr sz="3000" b="1" i="0">
                <a:solidFill>
                  <a:srgbClr val="E9F3EF"/>
                </a:solidFill>
                <a:latin typeface="Calibri"/>
              </a:rPr>
              <a:t>~1 min</a:t>
            </a:r>
          </a:p>
        </p:txBody>
      </p:sp>
      <p:sp>
        <p:nvSpPr>
          <p:cNvPr id="20" name="TextBox 19"/>
          <p:cNvSpPr txBox="1"/>
          <p:nvPr/>
        </p:nvSpPr>
        <p:spPr>
          <a:xfrm>
            <a:off x="548640" y="5486400"/>
            <a:ext cx="3515258" cy="320040"/>
          </a:xfrm>
          <a:prstGeom prst="rect">
            <a:avLst/>
          </a:prstGeom>
          <a:noFill/>
        </p:spPr>
        <p:txBody>
          <a:bodyPr wrap="square" lIns="0" rIns="0" tIns="0" bIns="0" anchor="t">
            <a:spAutoFit/>
          </a:bodyPr>
          <a:lstStyle/>
          <a:p>
            <a:pPr algn="l">
              <a:spcAft>
                <a:spcPts val="600"/>
              </a:spcAft>
            </a:pPr>
            <a:r>
              <a:rPr sz="1400" b="0" i="0">
                <a:solidFill>
                  <a:srgbClr val="7A928A"/>
                </a:solidFill>
                <a:latin typeface="Calibri"/>
              </a:rPr>
              <a:t>Solana → Ethereum</a:t>
            </a:r>
          </a:p>
        </p:txBody>
      </p:sp>
      <p:sp>
        <p:nvSpPr>
          <p:cNvPr id="21" name="TextBox 20"/>
          <p:cNvSpPr txBox="1"/>
          <p:nvPr/>
        </p:nvSpPr>
        <p:spPr>
          <a:xfrm>
            <a:off x="4338218" y="4937760"/>
            <a:ext cx="3515258" cy="548640"/>
          </a:xfrm>
          <a:prstGeom prst="rect">
            <a:avLst/>
          </a:prstGeom>
          <a:noFill/>
        </p:spPr>
        <p:txBody>
          <a:bodyPr wrap="square" lIns="0" rIns="0" tIns="0" bIns="0" anchor="t">
            <a:spAutoFit/>
          </a:bodyPr>
          <a:lstStyle/>
          <a:p>
            <a:pPr algn="l">
              <a:spcAft>
                <a:spcPts val="600"/>
              </a:spcAft>
            </a:pPr>
            <a:r>
              <a:rPr sz="3000" b="1" i="0">
                <a:solidFill>
                  <a:srgbClr val="E9F3EF"/>
                </a:solidFill>
                <a:latin typeface="Calibri"/>
              </a:rPr>
              <a:t>35–40 min</a:t>
            </a:r>
          </a:p>
        </p:txBody>
      </p:sp>
      <p:sp>
        <p:nvSpPr>
          <p:cNvPr id="22" name="TextBox 21"/>
          <p:cNvSpPr txBox="1"/>
          <p:nvPr/>
        </p:nvSpPr>
        <p:spPr>
          <a:xfrm>
            <a:off x="4338218" y="5486400"/>
            <a:ext cx="3515258" cy="320040"/>
          </a:xfrm>
          <a:prstGeom prst="rect">
            <a:avLst/>
          </a:prstGeom>
          <a:noFill/>
        </p:spPr>
        <p:txBody>
          <a:bodyPr wrap="square" lIns="0" rIns="0" tIns="0" bIns="0" anchor="t">
            <a:spAutoFit/>
          </a:bodyPr>
          <a:lstStyle/>
          <a:p>
            <a:pPr algn="l">
              <a:spcAft>
                <a:spcPts val="600"/>
              </a:spcAft>
            </a:pPr>
            <a:r>
              <a:rPr sz="1400" b="0" i="0">
                <a:solidFill>
                  <a:srgbClr val="7A928A"/>
                </a:solidFill>
                <a:latin typeface="Calibri"/>
              </a:rPr>
              <a:t>Ethereum → Solana</a:t>
            </a:r>
          </a:p>
        </p:txBody>
      </p:sp>
      <p:sp>
        <p:nvSpPr>
          <p:cNvPr id="23" name="TextBox 22"/>
          <p:cNvSpPr txBox="1"/>
          <p:nvPr/>
        </p:nvSpPr>
        <p:spPr>
          <a:xfrm>
            <a:off x="8127796" y="4937760"/>
            <a:ext cx="3515258" cy="548640"/>
          </a:xfrm>
          <a:prstGeom prst="rect">
            <a:avLst/>
          </a:prstGeom>
          <a:noFill/>
        </p:spPr>
        <p:txBody>
          <a:bodyPr wrap="square" lIns="0" rIns="0" tIns="0" bIns="0" anchor="t">
            <a:spAutoFit/>
          </a:bodyPr>
          <a:lstStyle/>
          <a:p>
            <a:pPr algn="l">
              <a:spcAft>
                <a:spcPts val="600"/>
              </a:spcAft>
            </a:pPr>
            <a:r>
              <a:rPr sz="3000" b="1" i="0">
                <a:solidFill>
                  <a:srgbClr val="E9F3EF"/>
                </a:solidFill>
                <a:latin typeface="Calibri"/>
              </a:rPr>
              <a:t>0</a:t>
            </a:r>
          </a:p>
        </p:txBody>
      </p:sp>
      <p:sp>
        <p:nvSpPr>
          <p:cNvPr id="24" name="TextBox 23"/>
          <p:cNvSpPr txBox="1"/>
          <p:nvPr/>
        </p:nvSpPr>
        <p:spPr>
          <a:xfrm>
            <a:off x="8127796" y="5486400"/>
            <a:ext cx="3515258" cy="320040"/>
          </a:xfrm>
          <a:prstGeom prst="rect">
            <a:avLst/>
          </a:prstGeom>
          <a:noFill/>
        </p:spPr>
        <p:txBody>
          <a:bodyPr wrap="square" lIns="0" rIns="0" tIns="0" bIns="0" anchor="t">
            <a:spAutoFit/>
          </a:bodyPr>
          <a:lstStyle/>
          <a:p>
            <a:pPr algn="l">
              <a:spcAft>
                <a:spcPts val="600"/>
              </a:spcAft>
            </a:pPr>
            <a:r>
              <a:rPr sz="1400" b="0" i="0">
                <a:solidFill>
                  <a:srgbClr val="7A928A"/>
                </a:solidFill>
                <a:latin typeface="Calibri"/>
              </a:rPr>
              <a:t>manual steps for payouts</a:t>
            </a:r>
          </a:p>
        </p:txBody>
      </p:sp>
      <p:sp>
        <p:nvSpPr>
          <p:cNvPr id="25" name="TextBox 24"/>
          <p:cNvSpPr txBox="1"/>
          <p:nvPr/>
        </p:nvSpPr>
        <p:spPr>
          <a:xfrm>
            <a:off x="548640" y="6446520"/>
            <a:ext cx="5486400" cy="228600"/>
          </a:xfrm>
          <a:prstGeom prst="rect">
            <a:avLst/>
          </a:prstGeom>
          <a:noFill/>
        </p:spPr>
        <p:txBody>
          <a:bodyPr wrap="square" lIns="0" rIns="0" tIns="0" bIns="0" anchor="t">
            <a:spAutoFit/>
          </a:bodyPr>
          <a:lstStyle/>
          <a:p>
            <a:pPr algn="l">
              <a:spcAft>
                <a:spcPts val="600"/>
              </a:spcAft>
            </a:pPr>
            <a:r>
              <a:rPr sz="1000" b="0" i="0">
                <a:solidFill>
                  <a:srgbClr val="7A928A"/>
                </a:solidFill>
                <a:latin typeface="Calibri"/>
              </a:rPr>
              <a:t>StratosNotes · sp.stratoslab.app</a:t>
            </a:r>
          </a:p>
        </p:txBody>
      </p:sp>
      <p:sp>
        <p:nvSpPr>
          <p:cNvPr id="26" name="TextBox 25"/>
          <p:cNvSpPr txBox="1"/>
          <p:nvPr/>
        </p:nvSpPr>
        <p:spPr>
          <a:xfrm>
            <a:off x="10728655" y="6446520"/>
            <a:ext cx="914400" cy="228600"/>
          </a:xfrm>
          <a:prstGeom prst="rect">
            <a:avLst/>
          </a:prstGeom>
          <a:noFill/>
        </p:spPr>
        <p:txBody>
          <a:bodyPr wrap="square" lIns="0" rIns="0" tIns="0" bIns="0" anchor="t">
            <a:spAutoFit/>
          </a:bodyPr>
          <a:lstStyle/>
          <a:p>
            <a:pPr algn="r">
              <a:spcAft>
                <a:spcPts val="600"/>
              </a:spcAft>
            </a:pPr>
            <a:r>
              <a:rPr sz="1000" b="0" i="0">
                <a:solidFill>
                  <a:srgbClr val="7A928A"/>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B0A"/>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lIns="0" rIns="0" tIns="0" bIns="0" anchor="t">
            <a:spAutoFit/>
          </a:bodyPr>
          <a:lstStyle/>
          <a:p>
            <a:pPr algn="l">
              <a:spcAft>
                <a:spcPts val="600"/>
              </a:spcAft>
            </a:pPr>
            <a:r>
              <a:rPr sz="1200" b="1" i="0">
                <a:solidFill>
                  <a:srgbClr val="10B981"/>
                </a:solidFill>
                <a:latin typeface="Calibri"/>
              </a:rPr>
              <a:t>EVIDENCE</a:t>
            </a:r>
          </a:p>
        </p:txBody>
      </p:sp>
      <p:sp>
        <p:nvSpPr>
          <p:cNvPr id="3" name="Title"/>
          <p:cNvSpPr txBox="1"/>
          <p:nvPr/>
        </p:nvSpPr>
        <p:spPr>
          <a:xfrm>
            <a:off x="548640" y="685800"/>
            <a:ext cx="11094415" cy="822960"/>
          </a:xfrm>
          <a:prstGeom prst="rect">
            <a:avLst/>
          </a:prstGeom>
          <a:noFill/>
        </p:spPr>
        <p:txBody>
          <a:bodyPr wrap="square" lIns="0" rIns="0" tIns="0" bIns="0" anchor="t">
            <a:spAutoFit/>
          </a:bodyPr>
          <a:lstStyle/>
          <a:p>
            <a:pPr algn="l">
              <a:spcAft>
                <a:spcPts val="600"/>
              </a:spcAft>
            </a:pPr>
            <a:r>
              <a:rPr sz="3200" b="1" i="0">
                <a:solidFill>
                  <a:srgbClr val="E9F3EF"/>
                </a:solidFill>
                <a:latin typeface="Calibri"/>
              </a:rPr>
              <a:t>Two full lifecycles, exactly the reference payoff</a:t>
            </a:r>
          </a:p>
        </p:txBody>
      </p:sp>
      <p:sp>
        <p:nvSpPr>
          <p:cNvPr id="4" name="TextBox 3"/>
          <p:cNvSpPr txBox="1"/>
          <p:nvPr/>
        </p:nvSpPr>
        <p:spPr>
          <a:xfrm>
            <a:off x="548640" y="1783080"/>
            <a:ext cx="5364327" cy="365760"/>
          </a:xfrm>
          <a:prstGeom prst="rect">
            <a:avLst/>
          </a:prstGeom>
          <a:noFill/>
        </p:spPr>
        <p:txBody>
          <a:bodyPr wrap="square" lIns="0" rIns="0" tIns="0" bIns="0" anchor="t">
            <a:spAutoFit/>
          </a:bodyPr>
          <a:lstStyle/>
          <a:p>
            <a:pPr algn="l">
              <a:spcAft>
                <a:spcPts val="600"/>
              </a:spcAft>
            </a:pPr>
            <a:r>
              <a:rPr sz="2000" b="1" i="0">
                <a:solidFill>
                  <a:srgbClr val="E9F3EF"/>
                </a:solidFill>
                <a:latin typeface="Calibri"/>
              </a:rPr>
              <a:t>Phoenix on ETH</a:t>
            </a:r>
          </a:p>
        </p:txBody>
      </p:sp>
      <p:sp>
        <p:nvSpPr>
          <p:cNvPr id="5" name="TextBox 4"/>
          <p:cNvSpPr txBox="1"/>
          <p:nvPr/>
        </p:nvSpPr>
        <p:spPr>
          <a:xfrm>
            <a:off x="548640" y="2194560"/>
            <a:ext cx="5364327" cy="274320"/>
          </a:xfrm>
          <a:prstGeom prst="rect">
            <a:avLst/>
          </a:prstGeom>
          <a:noFill/>
        </p:spPr>
        <p:txBody>
          <a:bodyPr wrap="square" lIns="0" rIns="0" tIns="0" bIns="0" anchor="t">
            <a:spAutoFit/>
          </a:bodyPr>
          <a:lstStyle/>
          <a:p>
            <a:pPr algn="l">
              <a:spcAft>
                <a:spcPts val="600"/>
              </a:spcAft>
            </a:pPr>
            <a:r>
              <a:rPr sz="1300" b="0" i="0">
                <a:solidFill>
                  <a:srgbClr val="7A928A"/>
                </a:solidFill>
                <a:latin typeface="Calibri"/>
              </a:rPr>
              <a:t>8SvcVvQ8… · paid 525, 420, 105 USDC</a:t>
            </a:r>
          </a:p>
        </p:txBody>
      </p:sp>
      <p:graphicFrame>
        <p:nvGraphicFramePr>
          <p:cNvPr id="6" name="Table 5"/>
          <p:cNvGraphicFramePr>
            <a:graphicFrameLocks noGrp="1"/>
          </p:cNvGraphicFramePr>
          <p:nvPr/>
        </p:nvGraphicFramePr>
        <p:xfrm>
          <a:off x="548640" y="2651760"/>
          <a:ext cx="5364327" cy="1920240"/>
        </p:xfrm>
        <a:graphic>
          <a:graphicData uri="http://schemas.openxmlformats.org/drawingml/2006/table">
            <a:tbl>
              <a:tblPr firstRow="0" bandRow="0">
                <a:tableStyleId>{5C22544A-7EE6-4342-B048-85BDC9FD1C3A}</a:tableStyleId>
              </a:tblPr>
              <a:tblGrid>
                <a:gridCol w="3017520"/>
                <a:gridCol w="1097280"/>
                <a:gridCol w="1249527"/>
              </a:tblGrid>
              <a:tr h="384048">
                <a:tc>
                  <a:txBody>
                    <a:bodyPr wrap="square"/>
                    <a:lstStyle/>
                    <a:p>
                      <a:pPr algn="l"/>
                      <a:r>
                        <a:rPr sz="1200" b="1">
                          <a:solidFill>
                            <a:srgbClr val="10B981"/>
                          </a:solidFill>
                          <a:latin typeface="Calibri"/>
                        </a:rPr>
                        <a:t>Event</a:t>
                      </a:r>
                    </a:p>
                  </a:txBody>
                  <a:tcPr marL="91440" marR="91440" marT="36576" marB="36576" anchor="ctr">
                    <a:solidFill>
                      <a:srgbClr val="0C1613"/>
                    </a:solidFill>
                  </a:tcPr>
                </a:tc>
                <a:tc>
                  <a:txBody>
                    <a:bodyPr wrap="square"/>
                    <a:lstStyle/>
                    <a:p>
                      <a:pPr algn="l"/>
                      <a:r>
                        <a:rPr sz="1200" b="1">
                          <a:solidFill>
                            <a:srgbClr val="10B981"/>
                          </a:solidFill>
                          <a:latin typeface="Calibri"/>
                        </a:rPr>
                        <a:t>Transaction</a:t>
                      </a:r>
                    </a:p>
                  </a:txBody>
                  <a:tcPr marL="91440" marR="91440" marT="36576" marB="36576" anchor="ctr">
                    <a:solidFill>
                      <a:srgbClr val="0C1613"/>
                    </a:solidFill>
                  </a:tcPr>
                </a:tc>
                <a:tc>
                  <a:txBody>
                    <a:bodyPr wrap="square"/>
                    <a:lstStyle/>
                    <a:p>
                      <a:pPr algn="l"/>
                      <a:r>
                        <a:rPr sz="1200" b="1">
                          <a:solidFill>
                            <a:srgbClr val="10B981"/>
                          </a:solidFill>
                          <a:latin typeface="Calibri"/>
                        </a:rPr>
                        <a:t>Compute units</a:t>
                      </a:r>
                    </a:p>
                  </a:txBody>
                  <a:tcPr marL="91440" marR="91440" marT="36576" marB="36576" anchor="ctr">
                    <a:solidFill>
                      <a:srgbClr val="0C1613"/>
                    </a:solidFill>
                  </a:tcPr>
                </a:tc>
              </a:tr>
              <a:tr h="384048">
                <a:tc>
                  <a:txBody>
                    <a:bodyPr wrap="square"/>
                    <a:lstStyle/>
                    <a:p>
                      <a:pPr algn="l"/>
                      <a:r>
                        <a:rPr sz="1300" b="0">
                          <a:solidFill>
                            <a:srgbClr val="E9F3EF"/>
                          </a:solidFill>
                          <a:latin typeface="Calibri"/>
                        </a:rPr>
                        <a:t>CRE fixes the strike</a:t>
                      </a:r>
                    </a:p>
                  </a:txBody>
                  <a:tcPr marL="91440" marR="91440" marT="36576" marB="36576" anchor="ctr">
                    <a:solidFill>
                      <a:srgbClr val="101C18"/>
                    </a:solidFill>
                  </a:tcPr>
                </a:tc>
                <a:tc>
                  <a:txBody>
                    <a:bodyPr wrap="square"/>
                    <a:lstStyle/>
                    <a:p>
                      <a:pPr algn="l"/>
                      <a:r>
                        <a:rPr sz="1300" b="0">
                          <a:solidFill>
                            <a:srgbClr val="E9F3EF"/>
                          </a:solidFill>
                          <a:latin typeface="Calibri"/>
                        </a:rPr>
                        <a:t>2VxTRWLp…</a:t>
                      </a:r>
                    </a:p>
                  </a:txBody>
                  <a:tcPr marL="91440" marR="91440" marT="36576" marB="36576" anchor="ctr">
                    <a:solidFill>
                      <a:srgbClr val="101C18"/>
                    </a:solidFill>
                  </a:tcPr>
                </a:tc>
                <a:tc>
                  <a:txBody>
                    <a:bodyPr wrap="square"/>
                    <a:lstStyle/>
                    <a:p>
                      <a:pPr algn="r"/>
                      <a:r>
                        <a:rPr sz="1300" b="0">
                          <a:solidFill>
                            <a:srgbClr val="E9F3EF"/>
                          </a:solidFill>
                          <a:latin typeface="Calibri"/>
                        </a:rPr>
                        <a:t>51,394</a:t>
                      </a:r>
                    </a:p>
                  </a:txBody>
                  <a:tcPr marL="91440" marR="91440" marT="36576" marB="36576" anchor="ctr">
                    <a:solidFill>
                      <a:srgbClr val="101C18"/>
                    </a:solidFill>
                  </a:tcPr>
                </a:tc>
              </a:tr>
              <a:tr h="384048">
                <a:tc>
                  <a:txBody>
                    <a:bodyPr wrap="square"/>
                    <a:lstStyle/>
                    <a:p>
                      <a:pPr algn="l"/>
                      <a:r>
                        <a:rPr sz="1300" b="0">
                          <a:solidFill>
                            <a:srgbClr val="E9F3EF"/>
                          </a:solidFill>
                          <a:latin typeface="Calibri"/>
                        </a:rPr>
                        <a:t>Investor sells 100 of 600 units</a:t>
                      </a:r>
                    </a:p>
                  </a:txBody>
                  <a:tcPr marL="91440" marR="91440" marT="36576" marB="36576" anchor="ctr">
                    <a:solidFill>
                      <a:srgbClr val="050B0A"/>
                    </a:solidFill>
                  </a:tcPr>
                </a:tc>
                <a:tc>
                  <a:txBody>
                    <a:bodyPr wrap="square"/>
                    <a:lstStyle/>
                    <a:p>
                      <a:pPr algn="l"/>
                      <a:r>
                        <a:rPr sz="1300" b="0">
                          <a:solidFill>
                            <a:srgbClr val="E9F3EF"/>
                          </a:solidFill>
                          <a:latin typeface="Calibri"/>
                        </a:rPr>
                        <a:t>3umFWgcG…</a:t>
                      </a:r>
                    </a:p>
                  </a:txBody>
                  <a:tcPr marL="91440" marR="91440" marT="36576" marB="36576" anchor="ctr">
                    <a:solidFill>
                      <a:srgbClr val="050B0A"/>
                    </a:solidFill>
                  </a:tcPr>
                </a:tc>
                <a:tc>
                  <a:txBody>
                    <a:bodyPr wrap="square"/>
                    <a:lstStyle/>
                    <a:p>
                      <a:pPr algn="r"/>
                      <a:r>
                        <a:rPr sz="1300" b="0">
                          <a:solidFill>
                            <a:srgbClr val="E9F3EF"/>
                          </a:solidFill>
                          <a:latin typeface="Calibri"/>
                        </a:rPr>
                        <a:t>34,775</a:t>
                      </a:r>
                    </a:p>
                  </a:txBody>
                  <a:tcPr marL="91440" marR="91440" marT="36576" marB="36576" anchor="ctr">
                    <a:solidFill>
                      <a:srgbClr val="050B0A"/>
                    </a:solidFill>
                  </a:tcPr>
                </a:tc>
              </a:tr>
              <a:tr h="384048">
                <a:tc>
                  <a:txBody>
                    <a:bodyPr wrap="square"/>
                    <a:lstStyle/>
                    <a:p>
                      <a:pPr algn="l"/>
                      <a:r>
                        <a:rPr sz="1300" b="0">
                          <a:solidFill>
                            <a:srgbClr val="E9F3EF"/>
                          </a:solidFill>
                          <a:latin typeface="Calibri"/>
                        </a:rPr>
                        <a:t>Observation 1: coupon</a:t>
                      </a:r>
                    </a:p>
                  </a:txBody>
                  <a:tcPr marL="91440" marR="91440" marT="36576" marB="36576" anchor="ctr">
                    <a:solidFill>
                      <a:srgbClr val="101C18"/>
                    </a:solidFill>
                  </a:tcPr>
                </a:tc>
                <a:tc>
                  <a:txBody>
                    <a:bodyPr wrap="square"/>
                    <a:lstStyle/>
                    <a:p>
                      <a:pPr algn="l"/>
                      <a:r>
                        <a:rPr sz="1300" b="0">
                          <a:solidFill>
                            <a:srgbClr val="E9F3EF"/>
                          </a:solidFill>
                          <a:latin typeface="Calibri"/>
                        </a:rPr>
                        <a:t>Ju2Wo4k5…</a:t>
                      </a:r>
                    </a:p>
                  </a:txBody>
                  <a:tcPr marL="91440" marR="91440" marT="36576" marB="36576" anchor="ctr">
                    <a:solidFill>
                      <a:srgbClr val="101C18"/>
                    </a:solidFill>
                  </a:tcPr>
                </a:tc>
                <a:tc>
                  <a:txBody>
                    <a:bodyPr wrap="square"/>
                    <a:lstStyle/>
                    <a:p>
                      <a:pPr algn="r"/>
                      <a:r>
                        <a:rPr sz="1300" b="0">
                          <a:solidFill>
                            <a:srgbClr val="E9F3EF"/>
                          </a:solidFill>
                          <a:latin typeface="Calibri"/>
                        </a:rPr>
                        <a:t>68,976</a:t>
                      </a:r>
                    </a:p>
                  </a:txBody>
                  <a:tcPr marL="91440" marR="91440" marT="36576" marB="36576" anchor="ctr">
                    <a:solidFill>
                      <a:srgbClr val="101C18"/>
                    </a:solidFill>
                  </a:tcPr>
                </a:tc>
              </a:tr>
              <a:tr h="384048">
                <a:tc>
                  <a:txBody>
                    <a:bodyPr wrap="square"/>
                    <a:lstStyle/>
                    <a:p>
                      <a:pPr algn="l"/>
                      <a:r>
                        <a:rPr sz="1300" b="0">
                          <a:solidFill>
                            <a:srgbClr val="E9F3EF"/>
                          </a:solidFill>
                          <a:latin typeface="Calibri"/>
                        </a:rPr>
                        <a:t>Observation 2: autocall, redemption</a:t>
                      </a:r>
                    </a:p>
                  </a:txBody>
                  <a:tcPr marL="91440" marR="91440" marT="36576" marB="36576" anchor="ctr">
                    <a:solidFill>
                      <a:srgbClr val="050B0A"/>
                    </a:solidFill>
                  </a:tcPr>
                </a:tc>
                <a:tc>
                  <a:txBody>
                    <a:bodyPr wrap="square"/>
                    <a:lstStyle/>
                    <a:p>
                      <a:pPr algn="l"/>
                      <a:r>
                        <a:rPr sz="1300" b="0">
                          <a:solidFill>
                            <a:srgbClr val="E9F3EF"/>
                          </a:solidFill>
                          <a:latin typeface="Calibri"/>
                        </a:rPr>
                        <a:t>4hySSWXN…</a:t>
                      </a:r>
                    </a:p>
                  </a:txBody>
                  <a:tcPr marL="91440" marR="91440" marT="36576" marB="36576" anchor="ctr">
                    <a:solidFill>
                      <a:srgbClr val="050B0A"/>
                    </a:solidFill>
                  </a:tcPr>
                </a:tc>
                <a:tc>
                  <a:txBody>
                    <a:bodyPr wrap="square"/>
                    <a:lstStyle/>
                    <a:p>
                      <a:pPr algn="r"/>
                      <a:r>
                        <a:rPr sz="1300" b="0">
                          <a:solidFill>
                            <a:srgbClr val="E9F3EF"/>
                          </a:solidFill>
                          <a:latin typeface="Calibri"/>
                        </a:rPr>
                        <a:t>87,593</a:t>
                      </a:r>
                    </a:p>
                  </a:txBody>
                  <a:tcPr marL="91440" marR="91440" marT="36576" marB="36576" anchor="ctr">
                    <a:solidFill>
                      <a:srgbClr val="050B0A"/>
                    </a:solidFill>
                  </a:tcPr>
                </a:tc>
              </a:tr>
            </a:tbl>
          </a:graphicData>
        </a:graphic>
      </p:graphicFrame>
      <p:sp>
        <p:nvSpPr>
          <p:cNvPr id="7" name="TextBox 6"/>
          <p:cNvSpPr txBox="1"/>
          <p:nvPr/>
        </p:nvSpPr>
        <p:spPr>
          <a:xfrm>
            <a:off x="6278727" y="1783080"/>
            <a:ext cx="5364327" cy="365760"/>
          </a:xfrm>
          <a:prstGeom prst="rect">
            <a:avLst/>
          </a:prstGeom>
          <a:noFill/>
        </p:spPr>
        <p:txBody>
          <a:bodyPr wrap="square" lIns="0" rIns="0" tIns="0" bIns="0" anchor="t">
            <a:spAutoFit/>
          </a:bodyPr>
          <a:lstStyle/>
          <a:p>
            <a:pPr algn="l">
              <a:spcAft>
                <a:spcPts val="600"/>
              </a:spcAft>
            </a:pPr>
            <a:r>
              <a:rPr sz="2000" b="1" i="0">
                <a:solidFill>
                  <a:srgbClr val="E9F3EF"/>
                </a:solidFill>
                <a:latin typeface="Calibri"/>
              </a:rPr>
              <a:t>Worst-of ETH, BTC, SOL</a:t>
            </a:r>
          </a:p>
        </p:txBody>
      </p:sp>
      <p:sp>
        <p:nvSpPr>
          <p:cNvPr id="8" name="TextBox 7"/>
          <p:cNvSpPr txBox="1"/>
          <p:nvPr/>
        </p:nvSpPr>
        <p:spPr>
          <a:xfrm>
            <a:off x="6278727" y="2194560"/>
            <a:ext cx="5364327" cy="274320"/>
          </a:xfrm>
          <a:prstGeom prst="rect">
            <a:avLst/>
          </a:prstGeom>
          <a:noFill/>
        </p:spPr>
        <p:txBody>
          <a:bodyPr wrap="square" lIns="0" rIns="0" tIns="0" bIns="0" anchor="t">
            <a:spAutoFit/>
          </a:bodyPr>
          <a:lstStyle/>
          <a:p>
            <a:pPr algn="l">
              <a:spcAft>
                <a:spcPts val="600"/>
              </a:spcAft>
            </a:pPr>
            <a:r>
              <a:rPr sz="1300" b="0" i="0">
                <a:solidFill>
                  <a:srgbClr val="7A928A"/>
                </a:solidFill>
                <a:latin typeface="Calibri"/>
              </a:rPr>
              <a:t>3o6EuEWk… · paid 636, 424 USDC</a:t>
            </a:r>
          </a:p>
        </p:txBody>
      </p:sp>
      <p:graphicFrame>
        <p:nvGraphicFramePr>
          <p:cNvPr id="9" name="Table 8"/>
          <p:cNvGraphicFramePr>
            <a:graphicFrameLocks noGrp="1"/>
          </p:cNvGraphicFramePr>
          <p:nvPr/>
        </p:nvGraphicFramePr>
        <p:xfrm>
          <a:off x="6278727" y="2651760"/>
          <a:ext cx="5364327" cy="1536192"/>
        </p:xfrm>
        <a:graphic>
          <a:graphicData uri="http://schemas.openxmlformats.org/drawingml/2006/table">
            <a:tbl>
              <a:tblPr firstRow="0" bandRow="0">
                <a:tableStyleId>{5C22544A-7EE6-4342-B048-85BDC9FD1C3A}</a:tableStyleId>
              </a:tblPr>
              <a:tblGrid>
                <a:gridCol w="3017520"/>
                <a:gridCol w="1097280"/>
                <a:gridCol w="1249527"/>
              </a:tblGrid>
              <a:tr h="384048">
                <a:tc>
                  <a:txBody>
                    <a:bodyPr wrap="square"/>
                    <a:lstStyle/>
                    <a:p>
                      <a:pPr algn="l"/>
                      <a:r>
                        <a:rPr sz="1200" b="1">
                          <a:solidFill>
                            <a:srgbClr val="10B981"/>
                          </a:solidFill>
                          <a:latin typeface="Calibri"/>
                        </a:rPr>
                        <a:t>Event</a:t>
                      </a:r>
                    </a:p>
                  </a:txBody>
                  <a:tcPr marL="91440" marR="91440" marT="36576" marB="36576" anchor="ctr">
                    <a:solidFill>
                      <a:srgbClr val="0C1613"/>
                    </a:solidFill>
                  </a:tcPr>
                </a:tc>
                <a:tc>
                  <a:txBody>
                    <a:bodyPr wrap="square"/>
                    <a:lstStyle/>
                    <a:p>
                      <a:pPr algn="l"/>
                      <a:r>
                        <a:rPr sz="1200" b="1">
                          <a:solidFill>
                            <a:srgbClr val="10B981"/>
                          </a:solidFill>
                          <a:latin typeface="Calibri"/>
                        </a:rPr>
                        <a:t>Transaction</a:t>
                      </a:r>
                    </a:p>
                  </a:txBody>
                  <a:tcPr marL="91440" marR="91440" marT="36576" marB="36576" anchor="ctr">
                    <a:solidFill>
                      <a:srgbClr val="0C1613"/>
                    </a:solidFill>
                  </a:tcPr>
                </a:tc>
                <a:tc>
                  <a:txBody>
                    <a:bodyPr wrap="square"/>
                    <a:lstStyle/>
                    <a:p>
                      <a:pPr algn="l"/>
                      <a:r>
                        <a:rPr sz="1200" b="1">
                          <a:solidFill>
                            <a:srgbClr val="10B981"/>
                          </a:solidFill>
                          <a:latin typeface="Calibri"/>
                        </a:rPr>
                        <a:t>Compute units</a:t>
                      </a:r>
                    </a:p>
                  </a:txBody>
                  <a:tcPr marL="91440" marR="91440" marT="36576" marB="36576" anchor="ctr">
                    <a:solidFill>
                      <a:srgbClr val="0C1613"/>
                    </a:solidFill>
                  </a:tcPr>
                </a:tc>
              </a:tr>
              <a:tr h="384048">
                <a:tc>
                  <a:txBody>
                    <a:bodyPr wrap="square"/>
                    <a:lstStyle/>
                    <a:p>
                      <a:pPr algn="l"/>
                      <a:r>
                        <a:rPr sz="1300" b="0">
                          <a:solidFill>
                            <a:srgbClr val="E9F3EF"/>
                          </a:solidFill>
                          <a:latin typeface="Calibri"/>
                        </a:rPr>
                        <a:t>CRE fixes three strikes</a:t>
                      </a:r>
                    </a:p>
                  </a:txBody>
                  <a:tcPr marL="91440" marR="91440" marT="36576" marB="36576" anchor="ctr">
                    <a:solidFill>
                      <a:srgbClr val="101C18"/>
                    </a:solidFill>
                  </a:tcPr>
                </a:tc>
                <a:tc>
                  <a:txBody>
                    <a:bodyPr wrap="square"/>
                    <a:lstStyle/>
                    <a:p>
                      <a:pPr algn="l"/>
                      <a:r>
                        <a:rPr sz="1300" b="0">
                          <a:solidFill>
                            <a:srgbClr val="E9F3EF"/>
                          </a:solidFill>
                          <a:latin typeface="Calibri"/>
                        </a:rPr>
                        <a:t>2JoaJh49…</a:t>
                      </a:r>
                    </a:p>
                  </a:txBody>
                  <a:tcPr marL="91440" marR="91440" marT="36576" marB="36576" anchor="ctr">
                    <a:solidFill>
                      <a:srgbClr val="101C18"/>
                    </a:solidFill>
                  </a:tcPr>
                </a:tc>
                <a:tc>
                  <a:txBody>
                    <a:bodyPr wrap="square"/>
                    <a:lstStyle/>
                    <a:p>
                      <a:pPr algn="r"/>
                      <a:r>
                        <a:rPr sz="1300" b="0">
                          <a:solidFill>
                            <a:srgbClr val="E9F3EF"/>
                          </a:solidFill>
                          <a:latin typeface="Calibri"/>
                        </a:rPr>
                        <a:t>63,723</a:t>
                      </a:r>
                    </a:p>
                  </a:txBody>
                  <a:tcPr marL="91440" marR="91440" marT="36576" marB="36576" anchor="ctr">
                    <a:solidFill>
                      <a:srgbClr val="101C18"/>
                    </a:solidFill>
                  </a:tcPr>
                </a:tc>
              </a:tr>
              <a:tr h="384048">
                <a:tc>
                  <a:txBody>
                    <a:bodyPr wrap="square"/>
                    <a:lstStyle/>
                    <a:p>
                      <a:pPr algn="l"/>
                      <a:r>
                        <a:rPr sz="1300" b="0">
                          <a:solidFill>
                            <a:srgbClr val="E9F3EF"/>
                          </a:solidFill>
                          <a:latin typeface="Calibri"/>
                        </a:rPr>
                        <a:t>Observation 1: worst 100%, coupon</a:t>
                      </a:r>
                    </a:p>
                  </a:txBody>
                  <a:tcPr marL="91440" marR="91440" marT="36576" marB="36576" anchor="ctr">
                    <a:solidFill>
                      <a:srgbClr val="050B0A"/>
                    </a:solidFill>
                  </a:tcPr>
                </a:tc>
                <a:tc>
                  <a:txBody>
                    <a:bodyPr wrap="square"/>
                    <a:lstStyle/>
                    <a:p>
                      <a:pPr algn="l"/>
                      <a:r>
                        <a:rPr sz="1300" b="0">
                          <a:solidFill>
                            <a:srgbClr val="E9F3EF"/>
                          </a:solidFill>
                          <a:latin typeface="Calibri"/>
                        </a:rPr>
                        <a:t>3GL2E2Q7…</a:t>
                      </a:r>
                    </a:p>
                  </a:txBody>
                  <a:tcPr marL="91440" marR="91440" marT="36576" marB="36576" anchor="ctr">
                    <a:solidFill>
                      <a:srgbClr val="050B0A"/>
                    </a:solidFill>
                  </a:tcPr>
                </a:tc>
                <a:tc>
                  <a:txBody>
                    <a:bodyPr wrap="square"/>
                    <a:lstStyle/>
                    <a:p>
                      <a:pPr algn="r"/>
                      <a:r>
                        <a:rPr sz="1300" b="0">
                          <a:solidFill>
                            <a:srgbClr val="E9F3EF"/>
                          </a:solidFill>
                          <a:latin typeface="Calibri"/>
                        </a:rPr>
                        <a:t>84,063</a:t>
                      </a:r>
                    </a:p>
                  </a:txBody>
                  <a:tcPr marL="91440" marR="91440" marT="36576" marB="36576" anchor="ctr">
                    <a:solidFill>
                      <a:srgbClr val="050B0A"/>
                    </a:solidFill>
                  </a:tcPr>
                </a:tc>
              </a:tr>
              <a:tr h="384048">
                <a:tc>
                  <a:txBody>
                    <a:bodyPr wrap="square"/>
                    <a:lstStyle/>
                    <a:p>
                      <a:pPr algn="l"/>
                      <a:r>
                        <a:rPr sz="1300" b="0">
                          <a:solidFill>
                            <a:srgbClr val="E9F3EF"/>
                          </a:solidFill>
                          <a:latin typeface="Calibri"/>
                        </a:rPr>
                        <a:t>Observation 2: autocall, redemption</a:t>
                      </a:r>
                    </a:p>
                  </a:txBody>
                  <a:tcPr marL="91440" marR="91440" marT="36576" marB="36576" anchor="ctr">
                    <a:solidFill>
                      <a:srgbClr val="101C18"/>
                    </a:solidFill>
                  </a:tcPr>
                </a:tc>
                <a:tc>
                  <a:txBody>
                    <a:bodyPr wrap="square"/>
                    <a:lstStyle/>
                    <a:p>
                      <a:pPr algn="l"/>
                      <a:r>
                        <a:rPr sz="1300" b="0">
                          <a:solidFill>
                            <a:srgbClr val="E9F3EF"/>
                          </a:solidFill>
                          <a:latin typeface="Calibri"/>
                        </a:rPr>
                        <a:t>42Q2F5oR…</a:t>
                      </a:r>
                    </a:p>
                  </a:txBody>
                  <a:tcPr marL="91440" marR="91440" marT="36576" marB="36576" anchor="ctr">
                    <a:solidFill>
                      <a:srgbClr val="101C18"/>
                    </a:solidFill>
                  </a:tcPr>
                </a:tc>
                <a:tc>
                  <a:txBody>
                    <a:bodyPr wrap="square"/>
                    <a:lstStyle/>
                    <a:p>
                      <a:pPr algn="r"/>
                      <a:r>
                        <a:rPr sz="1300" b="0">
                          <a:solidFill>
                            <a:srgbClr val="E9F3EF"/>
                          </a:solidFill>
                          <a:latin typeface="Calibri"/>
                        </a:rPr>
                        <a:t>99,231</a:t>
                      </a:r>
                    </a:p>
                  </a:txBody>
                  <a:tcPr marL="91440" marR="91440" marT="36576" marB="36576" anchor="ctr">
                    <a:solidFill>
                      <a:srgbClr val="101C18"/>
                    </a:solidFill>
                  </a:tcPr>
                </a:tc>
              </a:tr>
            </a:tbl>
          </a:graphicData>
        </a:graphic>
      </p:graphicFrame>
      <p:sp>
        <p:nvSpPr>
          <p:cNvPr id="10" name="TextBox 9"/>
          <p:cNvSpPr txBox="1"/>
          <p:nvPr/>
        </p:nvSpPr>
        <p:spPr>
          <a:xfrm>
            <a:off x="548640" y="5166360"/>
            <a:ext cx="11094415" cy="731520"/>
          </a:xfrm>
          <a:prstGeom prst="rect">
            <a:avLst/>
          </a:prstGeom>
          <a:noFill/>
        </p:spPr>
        <p:txBody>
          <a:bodyPr wrap="square" lIns="0" rIns="0" tIns="0" bIns="0" anchor="t">
            <a:spAutoFit/>
          </a:bodyPr>
          <a:lstStyle/>
          <a:p>
            <a:pPr algn="l">
              <a:spcAft>
                <a:spcPts val="600"/>
              </a:spcAft>
            </a:pPr>
            <a:r>
              <a:rPr sz="1300" b="0" i="0">
                <a:solidFill>
                  <a:srgbClr val="B4C7C0"/>
                </a:solidFill>
                <a:latin typeface="Calibri"/>
              </a:rPr>
              <a:t>Worst-of: each CRE report carried three Chainlink prices; the engine computed perfK = min(obsK_i / initialLevel_i) on-chain and tested every barrier against it. Full transaction ids: docs/SUBMISSION.md and docs/crosschain.md.</a:t>
            </a:r>
          </a:p>
        </p:txBody>
      </p:sp>
      <p:sp>
        <p:nvSpPr>
          <p:cNvPr id="11" name="TextBox 10"/>
          <p:cNvSpPr txBox="1"/>
          <p:nvPr/>
        </p:nvSpPr>
        <p:spPr>
          <a:xfrm>
            <a:off x="548640" y="6446520"/>
            <a:ext cx="5486400" cy="228600"/>
          </a:xfrm>
          <a:prstGeom prst="rect">
            <a:avLst/>
          </a:prstGeom>
          <a:noFill/>
        </p:spPr>
        <p:txBody>
          <a:bodyPr wrap="square" lIns="0" rIns="0" tIns="0" bIns="0" anchor="t">
            <a:spAutoFit/>
          </a:bodyPr>
          <a:lstStyle/>
          <a:p>
            <a:pPr algn="l">
              <a:spcAft>
                <a:spcPts val="600"/>
              </a:spcAft>
            </a:pPr>
            <a:r>
              <a:rPr sz="1000" b="0" i="0">
                <a:solidFill>
                  <a:srgbClr val="7A928A"/>
                </a:solidFill>
                <a:latin typeface="Calibri"/>
              </a:rPr>
              <a:t>StratosNotes · sp.stratoslab.app</a:t>
            </a:r>
          </a:p>
        </p:txBody>
      </p:sp>
      <p:sp>
        <p:nvSpPr>
          <p:cNvPr id="12" name="TextBox 11"/>
          <p:cNvSpPr txBox="1"/>
          <p:nvPr/>
        </p:nvSpPr>
        <p:spPr>
          <a:xfrm>
            <a:off x="10728655" y="6446520"/>
            <a:ext cx="914400" cy="228600"/>
          </a:xfrm>
          <a:prstGeom prst="rect">
            <a:avLst/>
          </a:prstGeom>
          <a:noFill/>
        </p:spPr>
        <p:txBody>
          <a:bodyPr wrap="square" lIns="0" rIns="0" tIns="0" bIns="0" anchor="t">
            <a:spAutoFit/>
          </a:bodyPr>
          <a:lstStyle/>
          <a:p>
            <a:pPr algn="r">
              <a:spcAft>
                <a:spcPts val="600"/>
              </a:spcAft>
            </a:pPr>
            <a:r>
              <a:rPr sz="1000" b="0" i="0">
                <a:solidFill>
                  <a:srgbClr val="7A928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B0A"/>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lIns="0" rIns="0" tIns="0" bIns="0" anchor="t">
            <a:spAutoFit/>
          </a:bodyPr>
          <a:lstStyle/>
          <a:p>
            <a:pPr algn="l">
              <a:spcAft>
                <a:spcPts val="600"/>
              </a:spcAft>
            </a:pPr>
            <a:r>
              <a:rPr sz="1200" b="1" i="0">
                <a:solidFill>
                  <a:srgbClr val="10B981"/>
                </a:solidFill>
                <a:latin typeface="Calibri"/>
              </a:rPr>
              <a:t>AI AND TEMPLATES</a:t>
            </a:r>
          </a:p>
        </p:txBody>
      </p:sp>
      <p:sp>
        <p:nvSpPr>
          <p:cNvPr id="3" name="Title"/>
          <p:cNvSpPr txBox="1"/>
          <p:nvPr/>
        </p:nvSpPr>
        <p:spPr>
          <a:xfrm>
            <a:off x="548640" y="685800"/>
            <a:ext cx="11094415" cy="822960"/>
          </a:xfrm>
          <a:prstGeom prst="rect">
            <a:avLst/>
          </a:prstGeom>
          <a:noFill/>
        </p:spPr>
        <p:txBody>
          <a:bodyPr wrap="square" lIns="0" rIns="0" tIns="0" bIns="0" anchor="t">
            <a:spAutoFit/>
          </a:bodyPr>
          <a:lstStyle/>
          <a:p>
            <a:pPr algn="l">
              <a:spcAft>
                <a:spcPts val="600"/>
              </a:spcAft>
            </a:pPr>
            <a:r>
              <a:rPr sz="3200" b="1" i="0">
                <a:solidFill>
                  <a:srgbClr val="E9F3EF"/>
                </a:solidFill>
                <a:latin typeface="Calibri"/>
              </a:rPr>
              <a:t>Design by sentence, issue from a signed library</a:t>
            </a:r>
          </a:p>
        </p:txBody>
      </p:sp>
      <p:sp>
        <p:nvSpPr>
          <p:cNvPr id="4" name="Rounded Rectangle 3"/>
          <p:cNvSpPr/>
          <p:nvPr/>
        </p:nvSpPr>
        <p:spPr>
          <a:xfrm>
            <a:off x="548640" y="1783080"/>
            <a:ext cx="5486400" cy="1188720"/>
          </a:xfrm>
          <a:prstGeom prst="roundRect">
            <a:avLst>
              <a:gd name="adj" fmla="val 8000"/>
            </a:avLst>
          </a:prstGeom>
          <a:solidFill>
            <a:srgbClr val="0C1613"/>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874519"/>
            <a:ext cx="4937760" cy="1005840"/>
          </a:xfrm>
          <a:prstGeom prst="rect">
            <a:avLst/>
          </a:prstGeom>
          <a:noFill/>
        </p:spPr>
        <p:txBody>
          <a:bodyPr wrap="square" lIns="0" rIns="0" tIns="0" bIns="0" anchor="ctr">
            <a:spAutoFit/>
          </a:bodyPr>
          <a:lstStyle/>
          <a:p>
            <a:pPr algn="l">
              <a:spcAft>
                <a:spcPts val="200"/>
              </a:spcAft>
            </a:pPr>
            <a:r>
              <a:rPr sz="1100" b="1" i="0">
                <a:solidFill>
                  <a:srgbClr val="2DD4BF"/>
                </a:solidFill>
                <a:latin typeface="Calibri"/>
              </a:rPr>
              <a:t>PROMPT</a:t>
            </a:r>
          </a:p>
          <a:p>
            <a:pPr algn="l">
              <a:spcAft>
                <a:spcPts val="200"/>
              </a:spcAft>
            </a:pPr>
            <a:r>
              <a:rPr sz="1400" b="0" i="1">
                <a:solidFill>
                  <a:srgbClr val="E9F3EF"/>
                </a:solidFill>
                <a:latin typeface="Calibri"/>
              </a:rPr>
              <a:t>“12 month phoenix on the worst of ETH and BTC, 10% p.a. paid quarterly, 70% coupon barrier with memory…”</a:t>
            </a:r>
          </a:p>
        </p:txBody>
      </p:sp>
      <p:sp>
        <p:nvSpPr>
          <p:cNvPr id="6" name="TextBox 5"/>
          <p:cNvSpPr txBox="1"/>
          <p:nvPr/>
        </p:nvSpPr>
        <p:spPr>
          <a:xfrm>
            <a:off x="548640" y="3246120"/>
            <a:ext cx="2651760" cy="457200"/>
          </a:xfrm>
          <a:prstGeom prst="rect">
            <a:avLst/>
          </a:prstGeom>
          <a:noFill/>
        </p:spPr>
        <p:txBody>
          <a:bodyPr wrap="square" lIns="0" rIns="0" tIns="0" bIns="0" anchor="t">
            <a:spAutoFit/>
          </a:bodyPr>
          <a:lstStyle/>
          <a:p>
            <a:pPr algn="l">
              <a:spcAft>
                <a:spcPts val="600"/>
              </a:spcAft>
            </a:pPr>
            <a:r>
              <a:rPr sz="2200" b="1" i="0">
                <a:solidFill>
                  <a:srgbClr val="2DD4BF"/>
                </a:solidFill>
                <a:latin typeface="Calibri"/>
              </a:rPr>
              <a:t>~7 s</a:t>
            </a:r>
          </a:p>
        </p:txBody>
      </p:sp>
      <p:sp>
        <p:nvSpPr>
          <p:cNvPr id="7" name="TextBox 6"/>
          <p:cNvSpPr txBox="1"/>
          <p:nvPr/>
        </p:nvSpPr>
        <p:spPr>
          <a:xfrm>
            <a:off x="548640" y="3703320"/>
            <a:ext cx="2651760" cy="457200"/>
          </a:xfrm>
          <a:prstGeom prst="rect">
            <a:avLst/>
          </a:prstGeom>
          <a:noFill/>
        </p:spPr>
        <p:txBody>
          <a:bodyPr wrap="square" lIns="0" rIns="0" tIns="0" bIns="0" anchor="t">
            <a:spAutoFit/>
          </a:bodyPr>
          <a:lstStyle/>
          <a:p>
            <a:pPr algn="l">
              <a:spcAft>
                <a:spcPts val="600"/>
              </a:spcAft>
            </a:pPr>
            <a:r>
              <a:rPr sz="1300" b="0" i="0">
                <a:solidFill>
                  <a:srgbClr val="B4C7C0"/>
                </a:solidFill>
                <a:latin typeface="Calibri"/>
              </a:rPr>
              <a:t>term sheet to parameters</a:t>
            </a:r>
          </a:p>
        </p:txBody>
      </p:sp>
      <p:sp>
        <p:nvSpPr>
          <p:cNvPr id="8" name="TextBox 7"/>
          <p:cNvSpPr txBox="1"/>
          <p:nvPr/>
        </p:nvSpPr>
        <p:spPr>
          <a:xfrm>
            <a:off x="3383280" y="3246120"/>
            <a:ext cx="2651760" cy="457200"/>
          </a:xfrm>
          <a:prstGeom prst="rect">
            <a:avLst/>
          </a:prstGeom>
          <a:noFill/>
        </p:spPr>
        <p:txBody>
          <a:bodyPr wrap="square" lIns="0" rIns="0" tIns="0" bIns="0" anchor="t">
            <a:spAutoFit/>
          </a:bodyPr>
          <a:lstStyle/>
          <a:p>
            <a:pPr algn="l">
              <a:spcAft>
                <a:spcPts val="600"/>
              </a:spcAft>
            </a:pPr>
            <a:r>
              <a:rPr sz="2200" b="1" i="0">
                <a:solidFill>
                  <a:srgbClr val="2DD4BF"/>
                </a:solidFill>
                <a:latin typeface="Calibri"/>
              </a:rPr>
              <a:t>10% p.a. → 2.5%</a:t>
            </a:r>
          </a:p>
        </p:txBody>
      </p:sp>
      <p:sp>
        <p:nvSpPr>
          <p:cNvPr id="9" name="TextBox 8"/>
          <p:cNvSpPr txBox="1"/>
          <p:nvPr/>
        </p:nvSpPr>
        <p:spPr>
          <a:xfrm>
            <a:off x="3383280" y="3703320"/>
            <a:ext cx="2651760" cy="457200"/>
          </a:xfrm>
          <a:prstGeom prst="rect">
            <a:avLst/>
          </a:prstGeom>
          <a:noFill/>
        </p:spPr>
        <p:txBody>
          <a:bodyPr wrap="square" lIns="0" rIns="0" tIns="0" bIns="0" anchor="t">
            <a:spAutoFit/>
          </a:bodyPr>
          <a:lstStyle/>
          <a:p>
            <a:pPr algn="l">
              <a:spcAft>
                <a:spcPts val="600"/>
              </a:spcAft>
            </a:pPr>
            <a:r>
              <a:rPr sz="1300" b="0" i="0">
                <a:solidFill>
                  <a:srgbClr val="B4C7C0"/>
                </a:solidFill>
                <a:latin typeface="Calibri"/>
              </a:rPr>
              <a:t>per quarterly period</a:t>
            </a:r>
          </a:p>
        </p:txBody>
      </p:sp>
      <p:sp>
        <p:nvSpPr>
          <p:cNvPr id="10" name="TextBox 9"/>
          <p:cNvSpPr txBox="1"/>
          <p:nvPr/>
        </p:nvSpPr>
        <p:spPr>
          <a:xfrm>
            <a:off x="548640" y="4389120"/>
            <a:ext cx="2651760" cy="457200"/>
          </a:xfrm>
          <a:prstGeom prst="rect">
            <a:avLst/>
          </a:prstGeom>
          <a:noFill/>
        </p:spPr>
        <p:txBody>
          <a:bodyPr wrap="square" lIns="0" rIns="0" tIns="0" bIns="0" anchor="t">
            <a:spAutoFit/>
          </a:bodyPr>
          <a:lstStyle/>
          <a:p>
            <a:pPr algn="l">
              <a:spcAft>
                <a:spcPts val="600"/>
              </a:spcAft>
            </a:pPr>
            <a:r>
              <a:rPr sz="2200" b="1" i="0">
                <a:solidFill>
                  <a:srgbClr val="2DD4BF"/>
                </a:solidFill>
                <a:latin typeface="Calibri"/>
              </a:rPr>
              <a:t>2 underlyings</a:t>
            </a:r>
          </a:p>
        </p:txBody>
      </p:sp>
      <p:sp>
        <p:nvSpPr>
          <p:cNvPr id="11" name="TextBox 10"/>
          <p:cNvSpPr txBox="1"/>
          <p:nvPr/>
        </p:nvSpPr>
        <p:spPr>
          <a:xfrm>
            <a:off x="548640" y="4846320"/>
            <a:ext cx="2651760" cy="457200"/>
          </a:xfrm>
          <a:prstGeom prst="rect">
            <a:avLst/>
          </a:prstGeom>
          <a:noFill/>
        </p:spPr>
        <p:txBody>
          <a:bodyPr wrap="square" lIns="0" rIns="0" tIns="0" bIns="0" anchor="t">
            <a:spAutoFit/>
          </a:bodyPr>
          <a:lstStyle/>
          <a:p>
            <a:pPr algn="l">
              <a:spcAft>
                <a:spcPts val="600"/>
              </a:spcAft>
            </a:pPr>
            <a:r>
              <a:rPr sz="1300" b="0" i="0">
                <a:solidFill>
                  <a:srgbClr val="B4C7C0"/>
                </a:solidFill>
                <a:latin typeface="Calibri"/>
              </a:rPr>
              <a:t>become a worst-of basket</a:t>
            </a:r>
          </a:p>
        </p:txBody>
      </p:sp>
      <p:sp>
        <p:nvSpPr>
          <p:cNvPr id="12" name="TextBox 11"/>
          <p:cNvSpPr txBox="1"/>
          <p:nvPr/>
        </p:nvSpPr>
        <p:spPr>
          <a:xfrm>
            <a:off x="3383280" y="4389120"/>
            <a:ext cx="2651760" cy="457200"/>
          </a:xfrm>
          <a:prstGeom prst="rect">
            <a:avLst/>
          </a:prstGeom>
          <a:noFill/>
        </p:spPr>
        <p:txBody>
          <a:bodyPr wrap="square" lIns="0" rIns="0" tIns="0" bIns="0" anchor="t">
            <a:spAutoFit/>
          </a:bodyPr>
          <a:lstStyle/>
          <a:p>
            <a:pPr algn="l">
              <a:spcAft>
                <a:spcPts val="600"/>
              </a:spcAft>
            </a:pPr>
            <a:r>
              <a:rPr sz="2200" b="1" i="0">
                <a:solidFill>
                  <a:srgbClr val="2DD4BF"/>
                </a:solidFill>
                <a:latin typeface="Calibri"/>
              </a:rPr>
              <a:t>Asks</a:t>
            </a:r>
          </a:p>
        </p:txBody>
      </p:sp>
      <p:sp>
        <p:nvSpPr>
          <p:cNvPr id="13" name="TextBox 12"/>
          <p:cNvSpPr txBox="1"/>
          <p:nvPr/>
        </p:nvSpPr>
        <p:spPr>
          <a:xfrm>
            <a:off x="3383280" y="4846320"/>
            <a:ext cx="2651760" cy="457200"/>
          </a:xfrm>
          <a:prstGeom prst="rect">
            <a:avLst/>
          </a:prstGeom>
          <a:noFill/>
        </p:spPr>
        <p:txBody>
          <a:bodyPr wrap="square" lIns="0" rIns="0" tIns="0" bIns="0" anchor="t">
            <a:spAutoFit/>
          </a:bodyPr>
          <a:lstStyle/>
          <a:p>
            <a:pPr algn="l">
              <a:spcAft>
                <a:spcPts val="600"/>
              </a:spcAft>
            </a:pPr>
            <a:r>
              <a:rPr sz="1300" b="0" i="0">
                <a:solidFill>
                  <a:srgbClr val="B4C7C0"/>
                </a:solidFill>
                <a:latin typeface="Calibri"/>
              </a:rPr>
              <a:t>when terms are missing, never invents</a:t>
            </a:r>
          </a:p>
        </p:txBody>
      </p:sp>
      <p:sp>
        <p:nvSpPr>
          <p:cNvPr id="14" name="Rounded Rectangle 13"/>
          <p:cNvSpPr/>
          <p:nvPr/>
        </p:nvSpPr>
        <p:spPr>
          <a:xfrm>
            <a:off x="6492240" y="1783080"/>
            <a:ext cx="5150815" cy="406908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766560" y="1965960"/>
            <a:ext cx="4602175" cy="36576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Template library: six on devnet</a:t>
            </a:r>
          </a:p>
        </p:txBody>
      </p:sp>
      <p:sp>
        <p:nvSpPr>
          <p:cNvPr id="16" name="Oval 15"/>
          <p:cNvSpPr/>
          <p:nvPr/>
        </p:nvSpPr>
        <p:spPr>
          <a:xfrm>
            <a:off x="6766560" y="2542032"/>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95160" y="2468880"/>
            <a:ext cx="4373575" cy="320040"/>
          </a:xfrm>
          <a:prstGeom prst="rect">
            <a:avLst/>
          </a:prstGeom>
          <a:noFill/>
        </p:spPr>
        <p:txBody>
          <a:bodyPr wrap="square" lIns="0" rIns="0" tIns="0" bIns="0" anchor="t">
            <a:spAutoFit/>
          </a:bodyPr>
          <a:lstStyle/>
          <a:p>
            <a:pPr algn="l">
              <a:spcAft>
                <a:spcPts val="600"/>
              </a:spcAft>
            </a:pPr>
            <a:r>
              <a:rPr sz="1400" b="0" i="0">
                <a:solidFill>
                  <a:srgbClr val="E9F3EF"/>
                </a:solidFill>
                <a:latin typeface="Calibri"/>
              </a:rPr>
              <a:t>Worst-of phoenix (ETH, BTC, SOL)</a:t>
            </a:r>
          </a:p>
        </p:txBody>
      </p:sp>
      <p:sp>
        <p:nvSpPr>
          <p:cNvPr id="18" name="Oval 17"/>
          <p:cNvSpPr/>
          <p:nvPr/>
        </p:nvSpPr>
        <p:spPr>
          <a:xfrm>
            <a:off x="6766560" y="2935224"/>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95160" y="2862072"/>
            <a:ext cx="4373575" cy="320040"/>
          </a:xfrm>
          <a:prstGeom prst="rect">
            <a:avLst/>
          </a:prstGeom>
          <a:noFill/>
        </p:spPr>
        <p:txBody>
          <a:bodyPr wrap="square" lIns="0" rIns="0" tIns="0" bIns="0" anchor="t">
            <a:spAutoFit/>
          </a:bodyPr>
          <a:lstStyle/>
          <a:p>
            <a:pPr algn="l">
              <a:spcAft>
                <a:spcPts val="600"/>
              </a:spcAft>
            </a:pPr>
            <a:r>
              <a:rPr sz="1400" b="0" i="0">
                <a:solidFill>
                  <a:srgbClr val="E9F3EF"/>
                </a:solidFill>
                <a:latin typeface="Calibri"/>
              </a:rPr>
              <a:t>Worst-of FCN (ETH, BTC)</a:t>
            </a:r>
          </a:p>
        </p:txBody>
      </p:sp>
      <p:sp>
        <p:nvSpPr>
          <p:cNvPr id="20" name="Oval 19"/>
          <p:cNvSpPr/>
          <p:nvPr/>
        </p:nvSpPr>
        <p:spPr>
          <a:xfrm>
            <a:off x="6766560" y="3328416"/>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95160" y="3255264"/>
            <a:ext cx="4373575" cy="320040"/>
          </a:xfrm>
          <a:prstGeom prst="rect">
            <a:avLst/>
          </a:prstGeom>
          <a:noFill/>
        </p:spPr>
        <p:txBody>
          <a:bodyPr wrap="square" lIns="0" rIns="0" tIns="0" bIns="0" anchor="t">
            <a:spAutoFit/>
          </a:bodyPr>
          <a:lstStyle/>
          <a:p>
            <a:pPr algn="l">
              <a:spcAft>
                <a:spcPts val="600"/>
              </a:spcAft>
            </a:pPr>
            <a:r>
              <a:rPr sz="1400" b="0" i="0">
                <a:solidFill>
                  <a:srgbClr val="E9F3EF"/>
                </a:solidFill>
                <a:latin typeface="Calibri"/>
              </a:rPr>
              <a:t>BTC snowball</a:t>
            </a:r>
          </a:p>
        </p:txBody>
      </p:sp>
      <p:sp>
        <p:nvSpPr>
          <p:cNvPr id="22" name="Oval 21"/>
          <p:cNvSpPr/>
          <p:nvPr/>
        </p:nvSpPr>
        <p:spPr>
          <a:xfrm>
            <a:off x="6766560" y="3721608"/>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160" y="3648456"/>
            <a:ext cx="4373575" cy="320040"/>
          </a:xfrm>
          <a:prstGeom prst="rect">
            <a:avLst/>
          </a:prstGeom>
          <a:noFill/>
        </p:spPr>
        <p:txBody>
          <a:bodyPr wrap="square" lIns="0" rIns="0" tIns="0" bIns="0" anchor="t">
            <a:spAutoFit/>
          </a:bodyPr>
          <a:lstStyle/>
          <a:p>
            <a:pPr algn="l">
              <a:spcAft>
                <a:spcPts val="600"/>
              </a:spcAft>
            </a:pPr>
            <a:r>
              <a:rPr sz="1400" b="0" i="0">
                <a:solidFill>
                  <a:srgbClr val="E9F3EF"/>
                </a:solidFill>
                <a:latin typeface="Calibri"/>
              </a:rPr>
              <a:t>90%-protected SOL note</a:t>
            </a:r>
          </a:p>
        </p:txBody>
      </p:sp>
      <p:sp>
        <p:nvSpPr>
          <p:cNvPr id="24" name="Oval 23"/>
          <p:cNvSpPr/>
          <p:nvPr/>
        </p:nvSpPr>
        <p:spPr>
          <a:xfrm>
            <a:off x="6766560" y="4114800"/>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95160" y="4041648"/>
            <a:ext cx="4373575" cy="320040"/>
          </a:xfrm>
          <a:prstGeom prst="rect">
            <a:avLst/>
          </a:prstGeom>
          <a:noFill/>
        </p:spPr>
        <p:txBody>
          <a:bodyPr wrap="square" lIns="0" rIns="0" tIns="0" bIns="0" anchor="t">
            <a:spAutoFit/>
          </a:bodyPr>
          <a:lstStyle/>
          <a:p>
            <a:pPr algn="l">
              <a:spcAft>
                <a:spcPts val="600"/>
              </a:spcAft>
            </a:pPr>
            <a:r>
              <a:rPr sz="1400" b="0" i="0">
                <a:solidFill>
                  <a:srgbClr val="E9F3EF"/>
                </a:solidFill>
                <a:latin typeface="Calibri"/>
              </a:rPr>
              <a:t>Step-down phoenix (custom workflow)</a:t>
            </a:r>
          </a:p>
        </p:txBody>
      </p:sp>
      <p:sp>
        <p:nvSpPr>
          <p:cNvPr id="26" name="Oval 25"/>
          <p:cNvSpPr/>
          <p:nvPr/>
        </p:nvSpPr>
        <p:spPr>
          <a:xfrm>
            <a:off x="6766560" y="4507992"/>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95160" y="4434840"/>
            <a:ext cx="4373575" cy="320040"/>
          </a:xfrm>
          <a:prstGeom prst="rect">
            <a:avLst/>
          </a:prstGeom>
          <a:noFill/>
        </p:spPr>
        <p:txBody>
          <a:bodyPr wrap="square" lIns="0" rIns="0" tIns="0" bIns="0" anchor="t">
            <a:spAutoFit/>
          </a:bodyPr>
          <a:lstStyle/>
          <a:p>
            <a:pPr algn="l">
              <a:spcAft>
                <a:spcPts val="600"/>
              </a:spcAft>
            </a:pPr>
            <a:r>
              <a:rPr sz="1400" b="0" i="0">
                <a:solidFill>
                  <a:srgbClr val="E9F3EF"/>
                </a:solidFill>
                <a:latin typeface="Calibri"/>
              </a:rPr>
              <a:t>BTC phoenix with a servicing fee (custom)</a:t>
            </a:r>
          </a:p>
        </p:txBody>
      </p:sp>
      <p:sp>
        <p:nvSpPr>
          <p:cNvPr id="28" name="TextBox 27"/>
          <p:cNvSpPr txBox="1"/>
          <p:nvPr/>
        </p:nvSpPr>
        <p:spPr>
          <a:xfrm>
            <a:off x="6766560" y="4937760"/>
            <a:ext cx="4602175" cy="731520"/>
          </a:xfrm>
          <a:prstGeom prst="rect">
            <a:avLst/>
          </a:prstGeom>
          <a:noFill/>
        </p:spPr>
        <p:txBody>
          <a:bodyPr wrap="square" lIns="0" rIns="0" tIns="0" bIns="0" anchor="t">
            <a:spAutoFit/>
          </a:bodyPr>
          <a:lstStyle/>
          <a:p>
            <a:pPr algn="l">
              <a:spcAft>
                <a:spcPts val="600"/>
              </a:spcAft>
            </a:pPr>
            <a:r>
              <a:rPr sz="1200" b="0" i="0">
                <a:solidFill>
                  <a:srgbClr val="7A928A"/>
                </a:solidFill>
                <a:latin typeface="Calibri"/>
              </a:rPr>
              <a:t>Each entry is signed by its author and recompiled against its definition address; forgeries are rejected.</a:t>
            </a:r>
          </a:p>
        </p:txBody>
      </p:sp>
      <p:sp>
        <p:nvSpPr>
          <p:cNvPr id="29" name="TextBox 28"/>
          <p:cNvSpPr txBox="1"/>
          <p:nvPr/>
        </p:nvSpPr>
        <p:spPr>
          <a:xfrm>
            <a:off x="548640" y="6446520"/>
            <a:ext cx="5486400" cy="228600"/>
          </a:xfrm>
          <a:prstGeom prst="rect">
            <a:avLst/>
          </a:prstGeom>
          <a:noFill/>
        </p:spPr>
        <p:txBody>
          <a:bodyPr wrap="square" lIns="0" rIns="0" tIns="0" bIns="0" anchor="t">
            <a:spAutoFit/>
          </a:bodyPr>
          <a:lstStyle/>
          <a:p>
            <a:pPr algn="l">
              <a:spcAft>
                <a:spcPts val="600"/>
              </a:spcAft>
            </a:pPr>
            <a:r>
              <a:rPr sz="1000" b="0" i="0">
                <a:solidFill>
                  <a:srgbClr val="7A928A"/>
                </a:solidFill>
                <a:latin typeface="Calibri"/>
              </a:rPr>
              <a:t>StratosNotes · sp.stratoslab.app</a:t>
            </a:r>
          </a:p>
        </p:txBody>
      </p:sp>
      <p:sp>
        <p:nvSpPr>
          <p:cNvPr id="30" name="TextBox 29"/>
          <p:cNvSpPr txBox="1"/>
          <p:nvPr/>
        </p:nvSpPr>
        <p:spPr>
          <a:xfrm>
            <a:off x="10728655" y="6446520"/>
            <a:ext cx="914400" cy="228600"/>
          </a:xfrm>
          <a:prstGeom prst="rect">
            <a:avLst/>
          </a:prstGeom>
          <a:noFill/>
        </p:spPr>
        <p:txBody>
          <a:bodyPr wrap="square" lIns="0" rIns="0" tIns="0" bIns="0" anchor="t">
            <a:spAutoFit/>
          </a:bodyPr>
          <a:lstStyle/>
          <a:p>
            <a:pPr algn="r">
              <a:spcAft>
                <a:spcPts val="600"/>
              </a:spcAft>
            </a:pPr>
            <a:r>
              <a:rPr sz="1000" b="0" i="0">
                <a:solidFill>
                  <a:srgbClr val="7A928A"/>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B0A"/>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lIns="0" rIns="0" tIns="0" bIns="0" anchor="t">
            <a:spAutoFit/>
          </a:bodyPr>
          <a:lstStyle/>
          <a:p>
            <a:pPr algn="l">
              <a:spcAft>
                <a:spcPts val="600"/>
              </a:spcAft>
            </a:pPr>
            <a:r>
              <a:rPr sz="1200" b="1" i="0">
                <a:solidFill>
                  <a:srgbClr val="10B981"/>
                </a:solidFill>
                <a:latin typeface="Calibri"/>
              </a:rPr>
              <a:t>TESTS</a:t>
            </a:r>
          </a:p>
        </p:txBody>
      </p:sp>
      <p:sp>
        <p:nvSpPr>
          <p:cNvPr id="3" name="Title"/>
          <p:cNvSpPr txBox="1"/>
          <p:nvPr/>
        </p:nvSpPr>
        <p:spPr>
          <a:xfrm>
            <a:off x="548640" y="685800"/>
            <a:ext cx="11094415" cy="822960"/>
          </a:xfrm>
          <a:prstGeom prst="rect">
            <a:avLst/>
          </a:prstGeom>
          <a:noFill/>
        </p:spPr>
        <p:txBody>
          <a:bodyPr wrap="square" lIns="0" rIns="0" tIns="0" bIns="0" anchor="t">
            <a:spAutoFit/>
          </a:bodyPr>
          <a:lstStyle/>
          <a:p>
            <a:pPr algn="l">
              <a:spcAft>
                <a:spcPts val="600"/>
              </a:spcAft>
            </a:pPr>
            <a:r>
              <a:rPr sz="3200" b="1" i="0">
                <a:solidFill>
                  <a:srgbClr val="E9F3EF"/>
                </a:solidFill>
                <a:latin typeface="Calibri"/>
              </a:rPr>
              <a:t>Every payout checked against a reference payoff</a:t>
            </a:r>
          </a:p>
        </p:txBody>
      </p:sp>
      <p:sp>
        <p:nvSpPr>
          <p:cNvPr id="4" name="Rounded Rectangle 3"/>
          <p:cNvSpPr/>
          <p:nvPr/>
        </p:nvSpPr>
        <p:spPr>
          <a:xfrm>
            <a:off x="548640" y="1783080"/>
            <a:ext cx="5410047" cy="164592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965960"/>
            <a:ext cx="1737360" cy="731520"/>
          </a:xfrm>
          <a:prstGeom prst="rect">
            <a:avLst/>
          </a:prstGeom>
          <a:noFill/>
        </p:spPr>
        <p:txBody>
          <a:bodyPr wrap="square" lIns="0" rIns="0" tIns="0" bIns="0" anchor="t">
            <a:spAutoFit/>
          </a:bodyPr>
          <a:lstStyle/>
          <a:p>
            <a:pPr algn="l">
              <a:spcAft>
                <a:spcPts val="600"/>
              </a:spcAft>
            </a:pPr>
            <a:r>
              <a:rPr sz="4000" b="1" i="0">
                <a:solidFill>
                  <a:srgbClr val="10B981"/>
                </a:solidFill>
                <a:latin typeface="Calibri"/>
              </a:rPr>
              <a:t>12</a:t>
            </a:r>
          </a:p>
        </p:txBody>
      </p:sp>
      <p:sp>
        <p:nvSpPr>
          <p:cNvPr id="6" name="TextBox 5"/>
          <p:cNvSpPr txBox="1"/>
          <p:nvPr/>
        </p:nvSpPr>
        <p:spPr>
          <a:xfrm>
            <a:off x="2606040" y="2057400"/>
            <a:ext cx="3124047" cy="45720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product lifecycles</a:t>
            </a:r>
          </a:p>
        </p:txBody>
      </p:sp>
      <p:sp>
        <p:nvSpPr>
          <p:cNvPr id="7" name="TextBox 6"/>
          <p:cNvSpPr txBox="1"/>
          <p:nvPr/>
        </p:nvSpPr>
        <p:spPr>
          <a:xfrm>
            <a:off x="822960" y="2697480"/>
            <a:ext cx="4861407" cy="685800"/>
          </a:xfrm>
          <a:prstGeom prst="rect">
            <a:avLst/>
          </a:prstGeom>
          <a:noFill/>
        </p:spPr>
        <p:txBody>
          <a:bodyPr wrap="square" lIns="0" rIns="0" tIns="0" bIns="0" anchor="t">
            <a:spAutoFit/>
          </a:bodyPr>
          <a:lstStyle/>
          <a:p>
            <a:pPr algn="l">
              <a:spcAft>
                <a:spcPts val="600"/>
              </a:spcAft>
            </a:pPr>
            <a:r>
              <a:rPr sz="1300" b="0" i="0">
                <a:solidFill>
                  <a:srgbClr val="B4C7C0"/>
                </a:solidFill>
                <a:latin typeface="Calibri"/>
              </a:rPr>
              <a:t>All five products, worst-of, physical delivery, two custom templates; every payout equals the reference payoff</a:t>
            </a:r>
          </a:p>
        </p:txBody>
      </p:sp>
      <p:sp>
        <p:nvSpPr>
          <p:cNvPr id="8" name="Rounded Rectangle 7"/>
          <p:cNvSpPr/>
          <p:nvPr/>
        </p:nvSpPr>
        <p:spPr>
          <a:xfrm>
            <a:off x="6233007" y="1783080"/>
            <a:ext cx="5410047" cy="164592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07327" y="1965960"/>
            <a:ext cx="1737360" cy="731520"/>
          </a:xfrm>
          <a:prstGeom prst="rect">
            <a:avLst/>
          </a:prstGeom>
          <a:noFill/>
        </p:spPr>
        <p:txBody>
          <a:bodyPr wrap="square" lIns="0" rIns="0" tIns="0" bIns="0" anchor="t">
            <a:spAutoFit/>
          </a:bodyPr>
          <a:lstStyle/>
          <a:p>
            <a:pPr algn="l">
              <a:spcAft>
                <a:spcPts val="600"/>
              </a:spcAft>
            </a:pPr>
            <a:r>
              <a:rPr sz="4000" b="1" i="0">
                <a:solidFill>
                  <a:srgbClr val="10B981"/>
                </a:solidFill>
                <a:latin typeface="Calibri"/>
              </a:rPr>
              <a:t>3</a:t>
            </a:r>
          </a:p>
        </p:txBody>
      </p:sp>
      <p:sp>
        <p:nvSpPr>
          <p:cNvPr id="10" name="TextBox 9"/>
          <p:cNvSpPr txBox="1"/>
          <p:nvPr/>
        </p:nvSpPr>
        <p:spPr>
          <a:xfrm>
            <a:off x="8290407" y="2057400"/>
            <a:ext cx="3124047" cy="45720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cross-chain scenarios</a:t>
            </a:r>
          </a:p>
        </p:txBody>
      </p:sp>
      <p:sp>
        <p:nvSpPr>
          <p:cNvPr id="11" name="TextBox 10"/>
          <p:cNvSpPr txBox="1"/>
          <p:nvPr/>
        </p:nvSpPr>
        <p:spPr>
          <a:xfrm>
            <a:off x="6507327" y="2697480"/>
            <a:ext cx="4861407" cy="685800"/>
          </a:xfrm>
          <a:prstGeom prst="rect">
            <a:avLst/>
          </a:prstGeom>
          <a:noFill/>
        </p:spPr>
        <p:txBody>
          <a:bodyPr wrap="square" lIns="0" rIns="0" tIns="0" bIns="0" anchor="t">
            <a:spAutoFit/>
          </a:bodyPr>
          <a:lstStyle/>
          <a:p>
            <a:pPr algn="l">
              <a:spcAft>
                <a:spcPts val="600"/>
              </a:spcAft>
            </a:pPr>
            <a:r>
              <a:rPr sz="1300" b="0" i="0">
                <a:solidFill>
                  <a:srgbClr val="B4C7C0"/>
                </a:solidFill>
                <a:latin typeface="Calibri"/>
              </a:rPr>
              <a:t>Subscribe via ccip_receive; late subscription refunded; autocall paid through payout report → outbox → flush_outbox</a:t>
            </a:r>
          </a:p>
        </p:txBody>
      </p:sp>
      <p:sp>
        <p:nvSpPr>
          <p:cNvPr id="12" name="Rounded Rectangle 11"/>
          <p:cNvSpPr/>
          <p:nvPr/>
        </p:nvSpPr>
        <p:spPr>
          <a:xfrm>
            <a:off x="548640" y="3657599"/>
            <a:ext cx="5410047" cy="164592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 y="3840479"/>
            <a:ext cx="1737360" cy="731520"/>
          </a:xfrm>
          <a:prstGeom prst="rect">
            <a:avLst/>
          </a:prstGeom>
          <a:noFill/>
        </p:spPr>
        <p:txBody>
          <a:bodyPr wrap="square" lIns="0" rIns="0" tIns="0" bIns="0" anchor="t">
            <a:spAutoFit/>
          </a:bodyPr>
          <a:lstStyle/>
          <a:p>
            <a:pPr algn="l">
              <a:spcAft>
                <a:spcPts val="600"/>
              </a:spcAft>
            </a:pPr>
            <a:r>
              <a:rPr sz="4000" b="1" i="0">
                <a:solidFill>
                  <a:srgbClr val="10B981"/>
                </a:solidFill>
                <a:latin typeface="Calibri"/>
              </a:rPr>
              <a:t>&lt; 300k</a:t>
            </a:r>
          </a:p>
        </p:txBody>
      </p:sp>
      <p:sp>
        <p:nvSpPr>
          <p:cNvPr id="14" name="TextBox 13"/>
          <p:cNvSpPr txBox="1"/>
          <p:nvPr/>
        </p:nvSpPr>
        <p:spPr>
          <a:xfrm>
            <a:off x="2606040" y="3931919"/>
            <a:ext cx="3124047" cy="45720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compute per CRE report</a:t>
            </a:r>
          </a:p>
        </p:txBody>
      </p:sp>
      <p:sp>
        <p:nvSpPr>
          <p:cNvPr id="15" name="TextBox 14"/>
          <p:cNvSpPr txBox="1"/>
          <p:nvPr/>
        </p:nvSpPr>
        <p:spPr>
          <a:xfrm>
            <a:off x="822960" y="4571999"/>
            <a:ext cx="4861407" cy="685800"/>
          </a:xfrm>
          <a:prstGeom prst="rect">
            <a:avLst/>
          </a:prstGeom>
          <a:noFill/>
        </p:spPr>
        <p:txBody>
          <a:bodyPr wrap="square" lIns="0" rIns="0" tIns="0" bIns="0" anchor="t">
            <a:spAutoFit/>
          </a:bodyPr>
          <a:lstStyle/>
          <a:p>
            <a:pPr algn="l">
              <a:spcAft>
                <a:spcPts val="600"/>
              </a:spcAft>
            </a:pPr>
            <a:r>
              <a:rPr sz="1300" b="0" i="0">
                <a:solidFill>
                  <a:srgbClr val="B4C7C0"/>
                </a:solidFill>
                <a:latin typeface="Calibri"/>
              </a:rPr>
              <a:t>Every report in the e2e suite fits CRE's cap (max 98k there)</a:t>
            </a:r>
          </a:p>
        </p:txBody>
      </p:sp>
      <p:sp>
        <p:nvSpPr>
          <p:cNvPr id="16" name="Rounded Rectangle 15"/>
          <p:cNvSpPr/>
          <p:nvPr/>
        </p:nvSpPr>
        <p:spPr>
          <a:xfrm>
            <a:off x="6233007" y="3657599"/>
            <a:ext cx="5410047" cy="164592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07327" y="3840479"/>
            <a:ext cx="1737360" cy="731520"/>
          </a:xfrm>
          <a:prstGeom prst="rect">
            <a:avLst/>
          </a:prstGeom>
          <a:noFill/>
        </p:spPr>
        <p:txBody>
          <a:bodyPr wrap="square" lIns="0" rIns="0" tIns="0" bIns="0" anchor="t">
            <a:spAutoFit/>
          </a:bodyPr>
          <a:lstStyle/>
          <a:p>
            <a:pPr algn="l">
              <a:spcAft>
                <a:spcPts val="600"/>
              </a:spcAft>
            </a:pPr>
            <a:r>
              <a:rPr sz="4000" b="1" i="0">
                <a:solidFill>
                  <a:srgbClr val="10B981"/>
                </a:solidFill>
                <a:latin typeface="Calibri"/>
              </a:rPr>
              <a:t>6</a:t>
            </a:r>
          </a:p>
        </p:txBody>
      </p:sp>
      <p:sp>
        <p:nvSpPr>
          <p:cNvPr id="18" name="TextBox 17"/>
          <p:cNvSpPr txBox="1"/>
          <p:nvPr/>
        </p:nvSpPr>
        <p:spPr>
          <a:xfrm>
            <a:off x="8290407" y="3931919"/>
            <a:ext cx="3124047" cy="457200"/>
          </a:xfrm>
          <a:prstGeom prst="rect">
            <a:avLst/>
          </a:prstGeom>
          <a:noFill/>
        </p:spPr>
        <p:txBody>
          <a:bodyPr wrap="square" lIns="0" rIns="0" tIns="0" bIns="0" anchor="t">
            <a:spAutoFit/>
          </a:bodyPr>
          <a:lstStyle/>
          <a:p>
            <a:pPr algn="l">
              <a:spcAft>
                <a:spcPts val="600"/>
              </a:spcAft>
            </a:pPr>
            <a:r>
              <a:rPr sz="1800" b="1" i="0">
                <a:solidFill>
                  <a:srgbClr val="E9F3EF"/>
                </a:solidFill>
                <a:latin typeface="Calibri"/>
              </a:rPr>
              <a:t>signed templates</a:t>
            </a:r>
          </a:p>
        </p:txBody>
      </p:sp>
      <p:sp>
        <p:nvSpPr>
          <p:cNvPr id="19" name="TextBox 18"/>
          <p:cNvSpPr txBox="1"/>
          <p:nvPr/>
        </p:nvSpPr>
        <p:spPr>
          <a:xfrm>
            <a:off x="6507327" y="4571999"/>
            <a:ext cx="4861407" cy="685800"/>
          </a:xfrm>
          <a:prstGeom prst="rect">
            <a:avLst/>
          </a:prstGeom>
          <a:noFill/>
        </p:spPr>
        <p:txBody>
          <a:bodyPr wrap="square" lIns="0" rIns="0" tIns="0" bIns="0" anchor="t">
            <a:spAutoFit/>
          </a:bodyPr>
          <a:lstStyle/>
          <a:p>
            <a:pPr algn="l">
              <a:spcAft>
                <a:spcPts val="600"/>
              </a:spcAft>
            </a:pPr>
            <a:r>
              <a:rPr sz="1300" b="0" i="0">
                <a:solidFill>
                  <a:srgbClr val="B4C7C0"/>
                </a:solidFill>
                <a:latin typeface="Calibri"/>
              </a:rPr>
              <a:t>Library rejects forged signatures and mismatched workflows, checked against production</a:t>
            </a:r>
          </a:p>
        </p:txBody>
      </p:sp>
      <p:sp>
        <p:nvSpPr>
          <p:cNvPr id="20" name="TextBox 19"/>
          <p:cNvSpPr txBox="1"/>
          <p:nvPr/>
        </p:nvSpPr>
        <p:spPr>
          <a:xfrm>
            <a:off x="548640" y="5486400"/>
            <a:ext cx="11094415" cy="594360"/>
          </a:xfrm>
          <a:prstGeom prst="rect">
            <a:avLst/>
          </a:prstGeom>
          <a:noFill/>
        </p:spPr>
        <p:txBody>
          <a:bodyPr wrap="square" lIns="0" rIns="0" tIns="0" bIns="0" anchor="t">
            <a:spAutoFit/>
          </a:bodyPr>
          <a:lstStyle/>
          <a:p>
            <a:pPr algn="l">
              <a:spcAft>
                <a:spcPts val="600"/>
              </a:spcAft>
            </a:pPr>
            <a:r>
              <a:rPr sz="1300" b="0" i="0">
                <a:solidFill>
                  <a:srgbClr val="7A928A"/>
                </a:solidFill>
                <a:latin typeface="Calibri"/>
              </a:rPr>
              <a:t>Also: unit tests for every product's BPMN round-trip, min / max, worst-of payoff and the AI pipeline; Foundry tests for the Sepolia faucet; the CRE workflow compiles with cre-compile.</a:t>
            </a:r>
          </a:p>
        </p:txBody>
      </p:sp>
      <p:sp>
        <p:nvSpPr>
          <p:cNvPr id="21" name="TextBox 20"/>
          <p:cNvSpPr txBox="1"/>
          <p:nvPr/>
        </p:nvSpPr>
        <p:spPr>
          <a:xfrm>
            <a:off x="548640" y="6446520"/>
            <a:ext cx="5486400" cy="228600"/>
          </a:xfrm>
          <a:prstGeom prst="rect">
            <a:avLst/>
          </a:prstGeom>
          <a:noFill/>
        </p:spPr>
        <p:txBody>
          <a:bodyPr wrap="square" lIns="0" rIns="0" tIns="0" bIns="0" anchor="t">
            <a:spAutoFit/>
          </a:bodyPr>
          <a:lstStyle/>
          <a:p>
            <a:pPr algn="l">
              <a:spcAft>
                <a:spcPts val="600"/>
              </a:spcAft>
            </a:pPr>
            <a:r>
              <a:rPr sz="1000" b="0" i="0">
                <a:solidFill>
                  <a:srgbClr val="7A928A"/>
                </a:solidFill>
                <a:latin typeface="Calibri"/>
              </a:rPr>
              <a:t>StratosNotes · sp.stratoslab.app</a:t>
            </a:r>
          </a:p>
        </p:txBody>
      </p:sp>
      <p:sp>
        <p:nvSpPr>
          <p:cNvPr id="22" name="TextBox 21"/>
          <p:cNvSpPr txBox="1"/>
          <p:nvPr/>
        </p:nvSpPr>
        <p:spPr>
          <a:xfrm>
            <a:off x="10728655" y="6446520"/>
            <a:ext cx="914400" cy="228600"/>
          </a:xfrm>
          <a:prstGeom prst="rect">
            <a:avLst/>
          </a:prstGeom>
          <a:noFill/>
        </p:spPr>
        <p:txBody>
          <a:bodyPr wrap="square" lIns="0" rIns="0" tIns="0" bIns="0" anchor="t">
            <a:spAutoFit/>
          </a:bodyPr>
          <a:lstStyle/>
          <a:p>
            <a:pPr algn="r">
              <a:spcAft>
                <a:spcPts val="600"/>
              </a:spcAft>
            </a:pPr>
            <a:r>
              <a:rPr sz="1000" b="0" i="0">
                <a:solidFill>
                  <a:srgbClr val="7A928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B0A"/>
        </a:solidFill>
        <a:effectLst/>
      </p:bgPr>
    </p:bg>
    <p:spTree>
      <p:nvGrpSpPr>
        <p:cNvPr id="1" name=""/>
        <p:cNvGrpSpPr/>
        <p:nvPr/>
      </p:nvGrpSpPr>
      <p:grpSpPr/>
      <p:sp>
        <p:nvSpPr>
          <p:cNvPr id="2" name="TextBox 1"/>
          <p:cNvSpPr txBox="1"/>
          <p:nvPr/>
        </p:nvSpPr>
        <p:spPr>
          <a:xfrm>
            <a:off x="548640" y="411480"/>
            <a:ext cx="9144000" cy="274320"/>
          </a:xfrm>
          <a:prstGeom prst="rect">
            <a:avLst/>
          </a:prstGeom>
          <a:noFill/>
        </p:spPr>
        <p:txBody>
          <a:bodyPr wrap="square" lIns="0" rIns="0" tIns="0" bIns="0" anchor="t">
            <a:spAutoFit/>
          </a:bodyPr>
          <a:lstStyle/>
          <a:p>
            <a:pPr algn="l">
              <a:spcAft>
                <a:spcPts val="600"/>
              </a:spcAft>
            </a:pPr>
            <a:r>
              <a:rPr sz="1200" b="1" i="0">
                <a:solidFill>
                  <a:srgbClr val="10B981"/>
                </a:solidFill>
                <a:latin typeface="Calibri"/>
              </a:rPr>
              <a:t>LIMITS AND NEXT</a:t>
            </a:r>
          </a:p>
        </p:txBody>
      </p:sp>
      <p:sp>
        <p:nvSpPr>
          <p:cNvPr id="3" name="Title"/>
          <p:cNvSpPr txBox="1"/>
          <p:nvPr/>
        </p:nvSpPr>
        <p:spPr>
          <a:xfrm>
            <a:off x="548640" y="685800"/>
            <a:ext cx="11094415" cy="822960"/>
          </a:xfrm>
          <a:prstGeom prst="rect">
            <a:avLst/>
          </a:prstGeom>
          <a:noFill/>
        </p:spPr>
        <p:txBody>
          <a:bodyPr wrap="square" lIns="0" rIns="0" tIns="0" bIns="0" anchor="t">
            <a:spAutoFit/>
          </a:bodyPr>
          <a:lstStyle/>
          <a:p>
            <a:pPr algn="l">
              <a:spcAft>
                <a:spcPts val="600"/>
              </a:spcAft>
            </a:pPr>
            <a:r>
              <a:rPr sz="3200" b="1" i="0">
                <a:solidFill>
                  <a:srgbClr val="E9F3EF"/>
                </a:solidFill>
                <a:latin typeface="Calibri"/>
              </a:rPr>
              <a:t>What is not done yet, and what comes next</a:t>
            </a:r>
          </a:p>
        </p:txBody>
      </p:sp>
      <p:sp>
        <p:nvSpPr>
          <p:cNvPr id="4" name="TextBox 3"/>
          <p:cNvSpPr txBox="1"/>
          <p:nvPr/>
        </p:nvSpPr>
        <p:spPr>
          <a:xfrm>
            <a:off x="548640" y="1737360"/>
            <a:ext cx="5364327" cy="365760"/>
          </a:xfrm>
          <a:prstGeom prst="rect">
            <a:avLst/>
          </a:prstGeom>
          <a:noFill/>
        </p:spPr>
        <p:txBody>
          <a:bodyPr wrap="square" lIns="0" rIns="0" tIns="0" bIns="0" anchor="t">
            <a:spAutoFit/>
          </a:bodyPr>
          <a:lstStyle/>
          <a:p>
            <a:pPr algn="l">
              <a:spcAft>
                <a:spcPts val="600"/>
              </a:spcAft>
            </a:pPr>
            <a:r>
              <a:rPr sz="1800" b="1" i="0">
                <a:solidFill>
                  <a:srgbClr val="A78BFA"/>
                </a:solidFill>
                <a:latin typeface="Calibri"/>
              </a:rPr>
              <a:t>Limits</a:t>
            </a:r>
          </a:p>
        </p:txBody>
      </p:sp>
      <p:sp>
        <p:nvSpPr>
          <p:cNvPr id="5" name="TextBox 4"/>
          <p:cNvSpPr txBox="1"/>
          <p:nvPr/>
        </p:nvSpPr>
        <p:spPr>
          <a:xfrm>
            <a:off x="548640" y="2148840"/>
            <a:ext cx="5364327" cy="731520"/>
          </a:xfrm>
          <a:prstGeom prst="rect">
            <a:avLst/>
          </a:prstGeom>
          <a:noFill/>
        </p:spPr>
        <p:txBody>
          <a:bodyPr wrap="square" lIns="0" rIns="0" tIns="0" bIns="0" anchor="t">
            <a:spAutoFit/>
          </a:bodyPr>
          <a:lstStyle/>
          <a:p>
            <a:pPr algn="l">
              <a:spcAft>
                <a:spcPts val="0"/>
              </a:spcAft>
            </a:pPr>
            <a:r>
              <a:rPr sz="1500" b="1" i="0">
                <a:solidFill>
                  <a:srgbClr val="E9F3EF"/>
                </a:solidFill>
                <a:latin typeface="Calibri"/>
              </a:rPr>
              <a:t>Inbound CCIP is slow</a:t>
            </a:r>
          </a:p>
          <a:p>
            <a:pPr algn="l">
              <a:spcAft>
                <a:spcPts val="0"/>
              </a:spcAft>
            </a:pPr>
            <a:r>
              <a:rPr sz="1200" b="0" i="0">
                <a:solidFill>
                  <a:srgbClr val="B4C7C0"/>
                </a:solidFill>
                <a:latin typeface="Calibri"/>
              </a:rPr>
              <a:t>Ethereum → Solana takes 35–40 min; Ethereum-open books stay open at least 40 min</a:t>
            </a:r>
          </a:p>
        </p:txBody>
      </p:sp>
      <p:sp>
        <p:nvSpPr>
          <p:cNvPr id="6" name="TextBox 5"/>
          <p:cNvSpPr txBox="1"/>
          <p:nvPr/>
        </p:nvSpPr>
        <p:spPr>
          <a:xfrm>
            <a:off x="548640" y="2898648"/>
            <a:ext cx="5364327" cy="731520"/>
          </a:xfrm>
          <a:prstGeom prst="rect">
            <a:avLst/>
          </a:prstGeom>
          <a:noFill/>
        </p:spPr>
        <p:txBody>
          <a:bodyPr wrap="square" lIns="0" rIns="0" tIns="0" bIns="0" anchor="t">
            <a:spAutoFit/>
          </a:bodyPr>
          <a:lstStyle/>
          <a:p>
            <a:pPr algn="l">
              <a:spcAft>
                <a:spcPts val="0"/>
              </a:spcAft>
            </a:pPr>
            <a:r>
              <a:rPr sz="1500" b="1" i="0">
                <a:solidFill>
                  <a:srgbClr val="E9F3EF"/>
                </a:solidFill>
                <a:latin typeface="Calibri"/>
              </a:rPr>
              <a:t>DON executor and our receiver</a:t>
            </a:r>
          </a:p>
          <a:p>
            <a:pPr algn="l">
              <a:spcAft>
                <a:spcPts val="0"/>
              </a:spcAft>
            </a:pPr>
            <a:r>
              <a:rPr sz="1200" b="0" i="0">
                <a:solidFill>
                  <a:srgbClr val="B4C7C0"/>
                </a:solidFill>
                <a:latin typeface="Calibri"/>
              </a:rPr>
              <a:t>The offramp runs out of heap after our receiver succeeds; our relayer re-executes</a:t>
            </a:r>
          </a:p>
        </p:txBody>
      </p:sp>
      <p:sp>
        <p:nvSpPr>
          <p:cNvPr id="7" name="TextBox 6"/>
          <p:cNvSpPr txBox="1"/>
          <p:nvPr/>
        </p:nvSpPr>
        <p:spPr>
          <a:xfrm>
            <a:off x="548640" y="3648456"/>
            <a:ext cx="5364327" cy="731520"/>
          </a:xfrm>
          <a:prstGeom prst="rect">
            <a:avLst/>
          </a:prstGeom>
          <a:noFill/>
        </p:spPr>
        <p:txBody>
          <a:bodyPr wrap="square" lIns="0" rIns="0" tIns="0" bIns="0" anchor="t">
            <a:spAutoFit/>
          </a:bodyPr>
          <a:lstStyle/>
          <a:p>
            <a:pPr algn="l">
              <a:spcAft>
                <a:spcPts val="0"/>
              </a:spcAft>
            </a:pPr>
            <a:r>
              <a:rPr sz="1500" b="1" i="0">
                <a:solidFill>
                  <a:srgbClr val="E9F3EF"/>
                </a:solidFill>
                <a:latin typeface="Calibri"/>
              </a:rPr>
              <a:t>CRE decides, a relay sends</a:t>
            </a:r>
          </a:p>
          <a:p>
            <a:pPr algn="l">
              <a:spcAft>
                <a:spcPts val="0"/>
              </a:spcAft>
            </a:pPr>
            <a:r>
              <a:rPr sz="1200" b="0" i="0">
                <a:solidFill>
                  <a:srgbClr val="B4C7C0"/>
                </a:solidFill>
                <a:latin typeface="Calibri"/>
              </a:rPr>
              <a:t>CRE writes can't use lookup tables; the relay cannot change amount or destination</a:t>
            </a:r>
          </a:p>
        </p:txBody>
      </p:sp>
      <p:sp>
        <p:nvSpPr>
          <p:cNvPr id="8" name="TextBox 7"/>
          <p:cNvSpPr txBox="1"/>
          <p:nvPr/>
        </p:nvSpPr>
        <p:spPr>
          <a:xfrm>
            <a:off x="548640" y="4398264"/>
            <a:ext cx="5364327" cy="731520"/>
          </a:xfrm>
          <a:prstGeom prst="rect">
            <a:avLst/>
          </a:prstGeom>
          <a:noFill/>
        </p:spPr>
        <p:txBody>
          <a:bodyPr wrap="square" lIns="0" rIns="0" tIns="0" bIns="0" anchor="t">
            <a:spAutoFit/>
          </a:bodyPr>
          <a:lstStyle/>
          <a:p>
            <a:pPr algn="l">
              <a:spcAft>
                <a:spcPts val="0"/>
              </a:spcAft>
            </a:pPr>
            <a:r>
              <a:rPr sz="1500" b="1" i="0">
                <a:solidFill>
                  <a:srgbClr val="E9F3EF"/>
                </a:solidFill>
                <a:latin typeface="Calibri"/>
              </a:rPr>
              <a:t>Test tokens</a:t>
            </a:r>
          </a:p>
          <a:p>
            <a:pPr algn="l">
              <a:spcAft>
                <a:spcPts val="0"/>
              </a:spcAft>
            </a:pPr>
            <a:r>
              <a:rPr sz="1200" b="0" i="0">
                <a:solidFill>
                  <a:srgbClr val="B4C7C0"/>
                </a:solidFill>
                <a:latin typeface="Calibri"/>
              </a:rPr>
              <a:t>Our own CCIP tokens: we control the lane and the faucet. Notes point at mint addresses, so USDC needs no engine change</a:t>
            </a:r>
          </a:p>
        </p:txBody>
      </p:sp>
      <p:sp>
        <p:nvSpPr>
          <p:cNvPr id="9" name="TextBox 8"/>
          <p:cNvSpPr txBox="1"/>
          <p:nvPr/>
        </p:nvSpPr>
        <p:spPr>
          <a:xfrm>
            <a:off x="548640" y="5148072"/>
            <a:ext cx="5364327" cy="731520"/>
          </a:xfrm>
          <a:prstGeom prst="rect">
            <a:avLst/>
          </a:prstGeom>
          <a:noFill/>
        </p:spPr>
        <p:txBody>
          <a:bodyPr wrap="square" lIns="0" rIns="0" tIns="0" bIns="0" anchor="t">
            <a:spAutoFit/>
          </a:bodyPr>
          <a:lstStyle/>
          <a:p>
            <a:pPr algn="l">
              <a:spcAft>
                <a:spcPts val="0"/>
              </a:spcAft>
            </a:pPr>
            <a:r>
              <a:rPr sz="1500" b="1" i="0">
                <a:solidFill>
                  <a:srgbClr val="E9F3EF"/>
                </a:solidFill>
                <a:latin typeface="Calibri"/>
              </a:rPr>
              <a:t>CRE simulator</a:t>
            </a:r>
          </a:p>
          <a:p>
            <a:pPr algn="l">
              <a:spcAft>
                <a:spcPts val="0"/>
              </a:spcAft>
            </a:pPr>
            <a:r>
              <a:rPr sz="1200" b="0" i="0">
                <a:solidFill>
                  <a:srgbClr val="B4C7C0"/>
                </a:solidFill>
                <a:latin typeface="Calibri"/>
              </a:rPr>
              <a:t>Runs with --broadcast until DON deploy access; the engine accepts the staging forwarder</a:t>
            </a:r>
          </a:p>
        </p:txBody>
      </p:sp>
      <p:sp>
        <p:nvSpPr>
          <p:cNvPr id="10" name="Rounded Rectangle 9"/>
          <p:cNvSpPr/>
          <p:nvPr/>
        </p:nvSpPr>
        <p:spPr>
          <a:xfrm>
            <a:off x="6278727" y="1737360"/>
            <a:ext cx="5364327" cy="4206240"/>
          </a:xfrm>
          <a:prstGeom prst="roundRect">
            <a:avLst>
              <a:gd name="adj" fmla="val 8000"/>
            </a:avLst>
          </a:prstGeom>
          <a:solidFill>
            <a:srgbClr val="101C18"/>
          </a:solidFill>
          <a:ln w="12700">
            <a:solidFill>
              <a:srgbClr val="2434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53047" y="1920240"/>
            <a:ext cx="4815687" cy="365760"/>
          </a:xfrm>
          <a:prstGeom prst="rect">
            <a:avLst/>
          </a:prstGeom>
          <a:noFill/>
        </p:spPr>
        <p:txBody>
          <a:bodyPr wrap="square" lIns="0" rIns="0" tIns="0" bIns="0" anchor="t">
            <a:spAutoFit/>
          </a:bodyPr>
          <a:lstStyle/>
          <a:p>
            <a:pPr algn="l">
              <a:spcAft>
                <a:spcPts val="600"/>
              </a:spcAft>
            </a:pPr>
            <a:r>
              <a:rPr sz="1800" b="1" i="0">
                <a:solidFill>
                  <a:srgbClr val="10B981"/>
                </a:solidFill>
                <a:latin typeface="Calibri"/>
              </a:rPr>
              <a:t>Next</a:t>
            </a:r>
          </a:p>
        </p:txBody>
      </p:sp>
      <p:sp>
        <p:nvSpPr>
          <p:cNvPr id="12" name="Oval 11"/>
          <p:cNvSpPr/>
          <p:nvPr/>
        </p:nvSpPr>
        <p:spPr>
          <a:xfrm>
            <a:off x="6553047" y="2496312"/>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81647" y="2423160"/>
            <a:ext cx="4587087" cy="502920"/>
          </a:xfrm>
          <a:prstGeom prst="rect">
            <a:avLst/>
          </a:prstGeom>
          <a:noFill/>
        </p:spPr>
        <p:txBody>
          <a:bodyPr wrap="square" lIns="0" rIns="0" tIns="0" bIns="0" anchor="t">
            <a:spAutoFit/>
          </a:bodyPr>
          <a:lstStyle/>
          <a:p>
            <a:pPr algn="l">
              <a:spcAft>
                <a:spcPts val="600"/>
              </a:spcAft>
            </a:pPr>
            <a:r>
              <a:rPr sz="1400" b="0" i="0">
                <a:solidFill>
                  <a:srgbClr val="E9F3EF"/>
                </a:solidFill>
                <a:latin typeface="Calibri"/>
              </a:rPr>
              <a:t>cre workflow deploy to the DON; log triggers on engine events</a:t>
            </a:r>
          </a:p>
        </p:txBody>
      </p:sp>
      <p:sp>
        <p:nvSpPr>
          <p:cNvPr id="14" name="Oval 13"/>
          <p:cNvSpPr/>
          <p:nvPr/>
        </p:nvSpPr>
        <p:spPr>
          <a:xfrm>
            <a:off x="6553047" y="3044952"/>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1647" y="2971800"/>
            <a:ext cx="4587087" cy="502920"/>
          </a:xfrm>
          <a:prstGeom prst="rect">
            <a:avLst/>
          </a:prstGeom>
          <a:noFill/>
        </p:spPr>
        <p:txBody>
          <a:bodyPr wrap="square" lIns="0" rIns="0" tIns="0" bIns="0" anchor="t">
            <a:spAutoFit/>
          </a:bodyPr>
          <a:lstStyle/>
          <a:p>
            <a:pPr algn="l">
              <a:spcAft>
                <a:spcPts val="600"/>
              </a:spcAft>
            </a:pPr>
            <a:r>
              <a:rPr sz="1400" b="0" i="0">
                <a:solidFill>
                  <a:srgbClr val="E9F3EF"/>
                </a:solidFill>
                <a:latin typeface="Calibri"/>
              </a:rPr>
              <a:t>Note units as SPL tokens (Token-2022), transferable over CCIP</a:t>
            </a:r>
          </a:p>
        </p:txBody>
      </p:sp>
      <p:sp>
        <p:nvSpPr>
          <p:cNvPr id="16" name="Oval 15"/>
          <p:cNvSpPr/>
          <p:nvPr/>
        </p:nvSpPr>
        <p:spPr>
          <a:xfrm>
            <a:off x="6553047" y="3593592"/>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81647" y="3520440"/>
            <a:ext cx="4587087" cy="502920"/>
          </a:xfrm>
          <a:prstGeom prst="rect">
            <a:avLst/>
          </a:prstGeom>
          <a:noFill/>
        </p:spPr>
        <p:txBody>
          <a:bodyPr wrap="square" lIns="0" rIns="0" tIns="0" bIns="0" anchor="t">
            <a:spAutoFit/>
          </a:bodyPr>
          <a:lstStyle/>
          <a:p>
            <a:pPr algn="l">
              <a:spcAft>
                <a:spcPts val="600"/>
              </a:spcAft>
            </a:pPr>
            <a:r>
              <a:rPr sz="1400" b="0" i="0">
                <a:solidFill>
                  <a:srgbClr val="E9F3EF"/>
                </a:solidFill>
                <a:latin typeface="Calibri"/>
              </a:rPr>
              <a:t>More CCIP chains (Base, Arbitrum); a smaller receiver footprint</a:t>
            </a:r>
          </a:p>
        </p:txBody>
      </p:sp>
      <p:sp>
        <p:nvSpPr>
          <p:cNvPr id="18" name="Oval 17"/>
          <p:cNvSpPr/>
          <p:nvPr/>
        </p:nvSpPr>
        <p:spPr>
          <a:xfrm>
            <a:off x="6553047" y="4142232"/>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81647" y="4069080"/>
            <a:ext cx="4587087" cy="502920"/>
          </a:xfrm>
          <a:prstGeom prst="rect">
            <a:avLst/>
          </a:prstGeom>
          <a:noFill/>
        </p:spPr>
        <p:txBody>
          <a:bodyPr wrap="square" lIns="0" rIns="0" tIns="0" bIns="0" anchor="t">
            <a:spAutoFit/>
          </a:bodyPr>
          <a:lstStyle/>
          <a:p>
            <a:pPr algn="l">
              <a:spcAft>
                <a:spcPts val="600"/>
              </a:spcAft>
            </a:pPr>
            <a:r>
              <a:rPr sz="1400" b="0" i="0">
                <a:solidFill>
                  <a:srgbClr val="E9F3EF"/>
                </a:solidFill>
                <a:latin typeface="Calibri"/>
              </a:rPr>
              <a:t>Issuer reserves from Ethereum in the app</a:t>
            </a:r>
          </a:p>
        </p:txBody>
      </p:sp>
      <p:sp>
        <p:nvSpPr>
          <p:cNvPr id="20" name="Oval 19"/>
          <p:cNvSpPr/>
          <p:nvPr/>
        </p:nvSpPr>
        <p:spPr>
          <a:xfrm>
            <a:off x="6553047" y="4690872"/>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81647" y="4617720"/>
            <a:ext cx="4587087" cy="502920"/>
          </a:xfrm>
          <a:prstGeom prst="rect">
            <a:avLst/>
          </a:prstGeom>
          <a:noFill/>
        </p:spPr>
        <p:txBody>
          <a:bodyPr wrap="square" lIns="0" rIns="0" tIns="0" bIns="0" anchor="t">
            <a:spAutoFit/>
          </a:bodyPr>
          <a:lstStyle/>
          <a:p>
            <a:pPr algn="l">
              <a:spcAft>
                <a:spcPts val="600"/>
              </a:spcAft>
            </a:pPr>
            <a:r>
              <a:rPr sz="1400" b="0" i="0">
                <a:solidFill>
                  <a:srgbClr val="E9F3EF"/>
                </a:solidFill>
                <a:latin typeface="Calibri"/>
              </a:rPr>
              <a:t>Investor allowlists, template ratings, issuer profiles</a:t>
            </a:r>
          </a:p>
        </p:txBody>
      </p:sp>
      <p:sp>
        <p:nvSpPr>
          <p:cNvPr id="22" name="Oval 21"/>
          <p:cNvSpPr/>
          <p:nvPr/>
        </p:nvSpPr>
        <p:spPr>
          <a:xfrm>
            <a:off x="6553047" y="5239512"/>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81647" y="5166360"/>
            <a:ext cx="4587087" cy="502920"/>
          </a:xfrm>
          <a:prstGeom prst="rect">
            <a:avLst/>
          </a:prstGeom>
          <a:noFill/>
        </p:spPr>
        <p:txBody>
          <a:bodyPr wrap="square" lIns="0" rIns="0" tIns="0" bIns="0" anchor="t">
            <a:spAutoFit/>
          </a:bodyPr>
          <a:lstStyle/>
          <a:p>
            <a:pPr algn="l">
              <a:spcAft>
                <a:spcPts val="600"/>
              </a:spcAft>
            </a:pPr>
            <a:r>
              <a:rPr sz="1400" b="0" i="0">
                <a:solidFill>
                  <a:srgbClr val="E9F3EF"/>
                </a:solidFill>
                <a:latin typeface="Calibri"/>
              </a:rPr>
              <a:t>Flow's Canton target for private institutional issuance</a:t>
            </a:r>
          </a:p>
        </p:txBody>
      </p:sp>
      <p:sp>
        <p:nvSpPr>
          <p:cNvPr id="24" name="TextBox 23"/>
          <p:cNvSpPr txBox="1"/>
          <p:nvPr/>
        </p:nvSpPr>
        <p:spPr>
          <a:xfrm>
            <a:off x="548640" y="6446520"/>
            <a:ext cx="5486400" cy="228600"/>
          </a:xfrm>
          <a:prstGeom prst="rect">
            <a:avLst/>
          </a:prstGeom>
          <a:noFill/>
        </p:spPr>
        <p:txBody>
          <a:bodyPr wrap="square" lIns="0" rIns="0" tIns="0" bIns="0" anchor="t">
            <a:spAutoFit/>
          </a:bodyPr>
          <a:lstStyle/>
          <a:p>
            <a:pPr algn="l">
              <a:spcAft>
                <a:spcPts val="600"/>
              </a:spcAft>
            </a:pPr>
            <a:r>
              <a:rPr sz="1000" b="0" i="0">
                <a:solidFill>
                  <a:srgbClr val="7A928A"/>
                </a:solidFill>
                <a:latin typeface="Calibri"/>
              </a:rPr>
              <a:t>StratosNotes · sp.stratoslab.app</a:t>
            </a:r>
          </a:p>
        </p:txBody>
      </p:sp>
      <p:sp>
        <p:nvSpPr>
          <p:cNvPr id="25" name="TextBox 24"/>
          <p:cNvSpPr txBox="1"/>
          <p:nvPr/>
        </p:nvSpPr>
        <p:spPr>
          <a:xfrm>
            <a:off x="10728655" y="6446520"/>
            <a:ext cx="914400" cy="228600"/>
          </a:xfrm>
          <a:prstGeom prst="rect">
            <a:avLst/>
          </a:prstGeom>
          <a:noFill/>
        </p:spPr>
        <p:txBody>
          <a:bodyPr wrap="square" lIns="0" rIns="0" tIns="0" bIns="0" anchor="t">
            <a:spAutoFit/>
          </a:bodyPr>
          <a:lstStyle/>
          <a:p>
            <a:pPr algn="r">
              <a:spcAft>
                <a:spcPts val="600"/>
              </a:spcAft>
            </a:pPr>
            <a:r>
              <a:rPr sz="1000" b="0" i="0">
                <a:solidFill>
                  <a:srgbClr val="7A928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B0A"/>
        </a:solidFill>
        <a:effectLst/>
      </p:bgPr>
    </p:bg>
    <p:spTree>
      <p:nvGrpSpPr>
        <p:cNvPr id="1" name=""/>
        <p:cNvGrpSpPr/>
        <p:nvPr/>
      </p:nvGrpSpPr>
      <p:grpSpPr/>
      <p:sp>
        <p:nvSpPr>
          <p:cNvPr id="2" name="TextBox 1"/>
          <p:cNvSpPr txBox="1"/>
          <p:nvPr/>
        </p:nvSpPr>
        <p:spPr>
          <a:xfrm>
            <a:off x="548640" y="1097280"/>
            <a:ext cx="10515600" cy="2194560"/>
          </a:xfrm>
          <a:prstGeom prst="rect">
            <a:avLst/>
          </a:prstGeom>
          <a:noFill/>
        </p:spPr>
        <p:txBody>
          <a:bodyPr wrap="square" lIns="0" rIns="0" tIns="0" bIns="0" anchor="t">
            <a:spAutoFit/>
          </a:bodyPr>
          <a:lstStyle/>
          <a:p>
            <a:pPr algn="l">
              <a:spcAft>
                <a:spcPts val="400"/>
              </a:spcAft>
            </a:pPr>
            <a:r>
              <a:rPr sz="3600" b="1" i="0">
                <a:solidFill>
                  <a:srgbClr val="E9F3EF"/>
                </a:solidFill>
                <a:latin typeface="Calibri"/>
              </a:rPr>
              <a:t>One Solana program runs every note.</a:t>
            </a:r>
          </a:p>
          <a:p>
            <a:pPr algn="l">
              <a:spcAft>
                <a:spcPts val="400"/>
              </a:spcAft>
            </a:pPr>
            <a:r>
              <a:rPr sz="3600" b="1" i="0">
                <a:solidFill>
                  <a:srgbClr val="2DD4BF"/>
                </a:solidFill>
                <a:latin typeface="Calibri"/>
              </a:rPr>
              <a:t>One CRE workflow observes and pays them all.</a:t>
            </a:r>
          </a:p>
          <a:p>
            <a:pPr algn="l">
              <a:spcAft>
                <a:spcPts val="400"/>
              </a:spcAft>
            </a:pPr>
            <a:r>
              <a:rPr sz="3600" b="1" i="0">
                <a:solidFill>
                  <a:srgbClr val="A78BFA"/>
                </a:solidFill>
                <a:latin typeface="Calibri"/>
              </a:rPr>
              <a:t>CCIP moves the money.</a:t>
            </a:r>
          </a:p>
        </p:txBody>
      </p:sp>
      <p:sp>
        <p:nvSpPr>
          <p:cNvPr id="3" name="TextBox 2"/>
          <p:cNvSpPr txBox="1"/>
          <p:nvPr/>
        </p:nvSpPr>
        <p:spPr>
          <a:xfrm>
            <a:off x="548640" y="3931920"/>
            <a:ext cx="1097280" cy="365760"/>
          </a:xfrm>
          <a:prstGeom prst="rect">
            <a:avLst/>
          </a:prstGeom>
          <a:noFill/>
        </p:spPr>
        <p:txBody>
          <a:bodyPr wrap="square" lIns="0" rIns="0" tIns="0" bIns="0" anchor="ctr">
            <a:spAutoFit/>
          </a:bodyPr>
          <a:lstStyle/>
          <a:p>
            <a:pPr algn="l">
              <a:spcAft>
                <a:spcPts val="600"/>
              </a:spcAft>
            </a:pPr>
            <a:r>
              <a:rPr sz="1300" b="1" i="0">
                <a:solidFill>
                  <a:srgbClr val="10B981"/>
                </a:solidFill>
                <a:latin typeface="Calibri"/>
              </a:rPr>
              <a:t>SITE</a:t>
            </a:r>
          </a:p>
        </p:txBody>
      </p:sp>
      <p:sp>
        <p:nvSpPr>
          <p:cNvPr id="4" name="TextBox 3"/>
          <p:cNvSpPr txBox="1"/>
          <p:nvPr/>
        </p:nvSpPr>
        <p:spPr>
          <a:xfrm>
            <a:off x="1737360" y="3931920"/>
            <a:ext cx="8229600" cy="365760"/>
          </a:xfrm>
          <a:prstGeom prst="rect">
            <a:avLst/>
          </a:prstGeom>
          <a:noFill/>
        </p:spPr>
        <p:txBody>
          <a:bodyPr wrap="square" lIns="0" rIns="0" tIns="0" bIns="0" anchor="ctr">
            <a:spAutoFit/>
          </a:bodyPr>
          <a:lstStyle/>
          <a:p>
            <a:pPr algn="l">
              <a:spcAft>
                <a:spcPts val="600"/>
              </a:spcAft>
            </a:pPr>
            <a:r>
              <a:rPr sz="1800" b="0" i="0">
                <a:solidFill>
                  <a:srgbClr val="E9F3EF"/>
                </a:solidFill>
                <a:latin typeface="Calibri"/>
              </a:rPr>
              <a:t>sp.stratoslab.app</a:t>
            </a:r>
          </a:p>
        </p:txBody>
      </p:sp>
      <p:sp>
        <p:nvSpPr>
          <p:cNvPr id="5" name="TextBox 4"/>
          <p:cNvSpPr txBox="1"/>
          <p:nvPr/>
        </p:nvSpPr>
        <p:spPr>
          <a:xfrm>
            <a:off x="548640" y="4407408"/>
            <a:ext cx="1097280" cy="365760"/>
          </a:xfrm>
          <a:prstGeom prst="rect">
            <a:avLst/>
          </a:prstGeom>
          <a:noFill/>
        </p:spPr>
        <p:txBody>
          <a:bodyPr wrap="square" lIns="0" rIns="0" tIns="0" bIns="0" anchor="ctr">
            <a:spAutoFit/>
          </a:bodyPr>
          <a:lstStyle/>
          <a:p>
            <a:pPr algn="l">
              <a:spcAft>
                <a:spcPts val="600"/>
              </a:spcAft>
            </a:pPr>
            <a:r>
              <a:rPr sz="1300" b="1" i="0">
                <a:solidFill>
                  <a:srgbClr val="10B981"/>
                </a:solidFill>
                <a:latin typeface="Calibri"/>
              </a:rPr>
              <a:t>APP</a:t>
            </a:r>
          </a:p>
        </p:txBody>
      </p:sp>
      <p:sp>
        <p:nvSpPr>
          <p:cNvPr id="6" name="TextBox 5"/>
          <p:cNvSpPr txBox="1"/>
          <p:nvPr/>
        </p:nvSpPr>
        <p:spPr>
          <a:xfrm>
            <a:off x="1737360" y="4407408"/>
            <a:ext cx="8229600" cy="365760"/>
          </a:xfrm>
          <a:prstGeom prst="rect">
            <a:avLst/>
          </a:prstGeom>
          <a:noFill/>
        </p:spPr>
        <p:txBody>
          <a:bodyPr wrap="square" lIns="0" rIns="0" tIns="0" bIns="0" anchor="ctr">
            <a:spAutoFit/>
          </a:bodyPr>
          <a:lstStyle/>
          <a:p>
            <a:pPr algn="l">
              <a:spcAft>
                <a:spcPts val="600"/>
              </a:spcAft>
            </a:pPr>
            <a:r>
              <a:rPr sz="1800" b="0" i="0">
                <a:solidFill>
                  <a:srgbClr val="E9F3EF"/>
                </a:solidFill>
                <a:latin typeface="Calibri"/>
              </a:rPr>
              <a:t>sp.stratoslab.app/app</a:t>
            </a:r>
          </a:p>
        </p:txBody>
      </p:sp>
      <p:sp>
        <p:nvSpPr>
          <p:cNvPr id="7" name="TextBox 6"/>
          <p:cNvSpPr txBox="1"/>
          <p:nvPr/>
        </p:nvSpPr>
        <p:spPr>
          <a:xfrm>
            <a:off x="548640" y="4882896"/>
            <a:ext cx="1097280" cy="365760"/>
          </a:xfrm>
          <a:prstGeom prst="rect">
            <a:avLst/>
          </a:prstGeom>
          <a:noFill/>
        </p:spPr>
        <p:txBody>
          <a:bodyPr wrap="square" lIns="0" rIns="0" tIns="0" bIns="0" anchor="ctr">
            <a:spAutoFit/>
          </a:bodyPr>
          <a:lstStyle/>
          <a:p>
            <a:pPr algn="l">
              <a:spcAft>
                <a:spcPts val="600"/>
              </a:spcAft>
            </a:pPr>
            <a:r>
              <a:rPr sz="1300" b="1" i="0">
                <a:solidFill>
                  <a:srgbClr val="10B981"/>
                </a:solidFill>
                <a:latin typeface="Calibri"/>
              </a:rPr>
              <a:t>CODE</a:t>
            </a:r>
          </a:p>
        </p:txBody>
      </p:sp>
      <p:sp>
        <p:nvSpPr>
          <p:cNvPr id="8" name="TextBox 7"/>
          <p:cNvSpPr txBox="1"/>
          <p:nvPr/>
        </p:nvSpPr>
        <p:spPr>
          <a:xfrm>
            <a:off x="1737360" y="4882896"/>
            <a:ext cx="8229600" cy="365760"/>
          </a:xfrm>
          <a:prstGeom prst="rect">
            <a:avLst/>
          </a:prstGeom>
          <a:noFill/>
        </p:spPr>
        <p:txBody>
          <a:bodyPr wrap="square" lIns="0" rIns="0" tIns="0" bIns="0" anchor="ctr">
            <a:spAutoFit/>
          </a:bodyPr>
          <a:lstStyle/>
          <a:p>
            <a:pPr algn="l">
              <a:spcAft>
                <a:spcPts val="600"/>
              </a:spcAft>
            </a:pPr>
            <a:r>
              <a:rPr sz="1800" b="0" i="0">
                <a:solidFill>
                  <a:srgbClr val="E9F3EF"/>
                </a:solidFill>
                <a:latin typeface="Calibri"/>
              </a:rPr>
              <a:t>github.com/adappterxyz/StratosNotes</a:t>
            </a:r>
          </a:p>
        </p:txBody>
      </p:sp>
      <p:sp>
        <p:nvSpPr>
          <p:cNvPr id="9" name="TextBox 8"/>
          <p:cNvSpPr txBox="1"/>
          <p:nvPr/>
        </p:nvSpPr>
        <p:spPr>
          <a:xfrm>
            <a:off x="548640" y="5358384"/>
            <a:ext cx="1097280" cy="365760"/>
          </a:xfrm>
          <a:prstGeom prst="rect">
            <a:avLst/>
          </a:prstGeom>
          <a:noFill/>
        </p:spPr>
        <p:txBody>
          <a:bodyPr wrap="square" lIns="0" rIns="0" tIns="0" bIns="0" anchor="ctr">
            <a:spAutoFit/>
          </a:bodyPr>
          <a:lstStyle/>
          <a:p>
            <a:pPr algn="l">
              <a:spcAft>
                <a:spcPts val="600"/>
              </a:spcAft>
            </a:pPr>
            <a:r>
              <a:rPr sz="1300" b="1" i="0">
                <a:solidFill>
                  <a:srgbClr val="10B981"/>
                </a:solidFill>
                <a:latin typeface="Calibri"/>
              </a:rPr>
              <a:t>DOCS</a:t>
            </a:r>
          </a:p>
        </p:txBody>
      </p:sp>
      <p:sp>
        <p:nvSpPr>
          <p:cNvPr id="10" name="TextBox 9"/>
          <p:cNvSpPr txBox="1"/>
          <p:nvPr/>
        </p:nvSpPr>
        <p:spPr>
          <a:xfrm>
            <a:off x="1737360" y="5358384"/>
            <a:ext cx="8229600" cy="365760"/>
          </a:xfrm>
          <a:prstGeom prst="rect">
            <a:avLst/>
          </a:prstGeom>
          <a:noFill/>
        </p:spPr>
        <p:txBody>
          <a:bodyPr wrap="square" lIns="0" rIns="0" tIns="0" bIns="0" anchor="ctr">
            <a:spAutoFit/>
          </a:bodyPr>
          <a:lstStyle/>
          <a:p>
            <a:pPr algn="l">
              <a:spcAft>
                <a:spcPts val="600"/>
              </a:spcAft>
            </a:pPr>
            <a:r>
              <a:rPr sz="1800" b="0" i="0">
                <a:solidFill>
                  <a:srgbClr val="E9F3EF"/>
                </a:solidFill>
                <a:latin typeface="Calibri"/>
              </a:rPr>
              <a:t>docs/SUBMISSION.md · docs/DEMO.md · docs/crosschain.md</a:t>
            </a:r>
          </a:p>
        </p:txBody>
      </p:sp>
      <p:sp>
        <p:nvSpPr>
          <p:cNvPr id="11" name="TextBox 10"/>
          <p:cNvSpPr txBox="1"/>
          <p:nvPr/>
        </p:nvSpPr>
        <p:spPr>
          <a:xfrm>
            <a:off x="548640" y="6035040"/>
            <a:ext cx="7315200" cy="320040"/>
          </a:xfrm>
          <a:prstGeom prst="rect">
            <a:avLst/>
          </a:prstGeom>
          <a:noFill/>
        </p:spPr>
        <p:txBody>
          <a:bodyPr wrap="square" lIns="0" rIns="0" tIns="0" bIns="0" anchor="t">
            <a:spAutoFit/>
          </a:bodyPr>
          <a:lstStyle/>
          <a:p>
            <a:pPr algn="l">
              <a:spcAft>
                <a:spcPts val="600"/>
              </a:spcAft>
            </a:pPr>
            <a:r>
              <a:rPr sz="1200" b="0" i="0">
                <a:solidFill>
                  <a:srgbClr val="7A928A"/>
                </a:solidFill>
                <a:latin typeface="Calibri"/>
              </a:rPr>
              <a:t>StratosNotes · TOKEN2049 Origins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